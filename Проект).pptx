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8" r:id="rId3"/>
    <p:sldId id="257" r:id="rId4"/>
    <p:sldId id="260" r:id="rId5"/>
    <p:sldId id="262" r:id="rId6"/>
    <p:sldId id="259" r:id="rId7"/>
    <p:sldId id="261"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4D26"/>
    <a:srgbClr val="FEFA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9" d="100"/>
          <a:sy n="159" d="100"/>
        </p:scale>
        <p:origin x="33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17:33:59.281"/>
    </inkml:context>
    <inkml:brush xml:id="br0">
      <inkml:brushProperty name="width" value="0.05" units="cm"/>
      <inkml:brushProperty name="height" value="0.05" units="cm"/>
    </inkml:brush>
  </inkml:definitions>
  <inkml:trace contextRef="#ctx0" brushRef="#br0">0 0 24284,'0'13347'0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17:34:19.489"/>
    </inkml:context>
    <inkml:brush xml:id="br0">
      <inkml:brushProperty name="width" value="0.035" units="cm"/>
      <inkml:brushProperty name="height" value="0.035" units="cm"/>
    </inkml:brush>
  </inkml:definitions>
  <inkml:trace contextRef="#ctx0" brushRef="#br0">0 0 24531,'11090'0'0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17:34:39.573"/>
    </inkml:context>
    <inkml:brush xml:id="br0">
      <inkml:brushProperty name="width" value="0.035" units="cm"/>
      <inkml:brushProperty name="height" value="0.035" units="cm"/>
    </inkml:brush>
  </inkml:definitions>
  <inkml:trace contextRef="#ctx0" brushRef="#br0">0 7179 24173,'0'-7179'0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17:39:50.295"/>
    </inkml:context>
    <inkml:brush xml:id="br0">
      <inkml:brushProperty name="width" value="0.035" units="cm"/>
      <inkml:brushProperty name="height" value="0.035" units="cm"/>
    </inkml:brush>
  </inkml:definitions>
  <inkml:trace contextRef="#ctx0" brushRef="#br0">23 0 24119,'0'13185'0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17:39:58.421"/>
    </inkml:context>
    <inkml:brush xml:id="br0">
      <inkml:brushProperty name="width" value="0.035" units="cm"/>
      <inkml:brushProperty name="height" value="0.035" units="cm"/>
    </inkml:brush>
  </inkml:definitions>
  <inkml:trace contextRef="#ctx0" brushRef="#br0">0 0 24190,'162'13708'0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17:39:59.836"/>
    </inkml:context>
    <inkml:brush xml:id="br0">
      <inkml:brushProperty name="width" value="0.035" units="cm"/>
      <inkml:brushProperty name="height" value="0.035" units="cm"/>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17:39:50.295"/>
    </inkml:context>
    <inkml:brush xml:id="br0">
      <inkml:brushProperty name="width" value="0.035" units="cm"/>
      <inkml:brushProperty name="height" value="0.035" units="cm"/>
    </inkml:brush>
  </inkml:definitions>
  <inkml:trace contextRef="#ctx0" brushRef="#br0">23 0 24119,'0'13185'0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17:39:59.836"/>
    </inkml:context>
    <inkml:brush xml:id="br0">
      <inkml:brushProperty name="width" value="0.035" units="cm"/>
      <inkml:brushProperty name="height" value="0.035" units="cm"/>
    </inkml:brush>
  </inkml:definitions>
  <inkml:trace contextRef="#ctx0" brushRef="#br0">1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ru-RU"/>
              <a:t>Образец заголовка</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FDE0EACB-5BDD-4751-8169-4EF913F81BB0}" type="datetimeFigureOut">
              <a:rPr lang="ru-RU" smtClean="0"/>
              <a:t>13.03.2026</a:t>
            </a:fld>
            <a:endParaRPr lang="ru-RU"/>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ru-RU"/>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05EE6504-62ED-43CA-9325-9A0ACF31C44A}" type="slidenum">
              <a:rPr lang="ru-RU" smtClean="0"/>
              <a:t>‹#›</a:t>
            </a:fld>
            <a:endParaRPr lang="ru-RU"/>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01930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DE0EACB-5BDD-4751-8169-4EF913F81BB0}" type="datetimeFigureOut">
              <a:rPr lang="ru-RU" smtClean="0"/>
              <a:t>13.03.2026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5EE6504-62ED-43CA-9325-9A0ACF31C44A}" type="slidenum">
              <a:rPr lang="ru-RU" smtClean="0"/>
              <a:t>‹#›</a:t>
            </a:fld>
            <a:endParaRPr lang="ru-RU"/>
          </a:p>
        </p:txBody>
      </p:sp>
    </p:spTree>
    <p:extLst>
      <p:ext uri="{BB962C8B-B14F-4D97-AF65-F5344CB8AC3E}">
        <p14:creationId xmlns:p14="http://schemas.microsoft.com/office/powerpoint/2010/main" val="1535954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FDE0EACB-5BDD-4751-8169-4EF913F81BB0}" type="datetimeFigureOut">
              <a:rPr lang="ru-RU" smtClean="0"/>
              <a:t>13.03.2026</a:t>
            </a:fld>
            <a:endParaRPr lang="ru-RU"/>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ru-RU"/>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05EE6504-62ED-43CA-9325-9A0ACF31C44A}" type="slidenum">
              <a:rPr lang="ru-RU" smtClean="0"/>
              <a:t>‹#›</a:t>
            </a:fld>
            <a:endParaRPr lang="ru-RU"/>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88840647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FDE0EACB-5BDD-4751-8169-4EF913F81BB0}" type="datetimeFigureOut">
              <a:rPr lang="ru-RU" smtClean="0"/>
              <a:t>13.03.2026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5EE6504-62ED-43CA-9325-9A0ACF31C44A}" type="slidenum">
              <a:rPr lang="ru-RU" smtClean="0"/>
              <a:t>‹#›</a:t>
            </a:fld>
            <a:endParaRPr lang="ru-RU"/>
          </a:p>
        </p:txBody>
      </p:sp>
    </p:spTree>
    <p:extLst>
      <p:ext uri="{BB962C8B-B14F-4D97-AF65-F5344CB8AC3E}">
        <p14:creationId xmlns:p14="http://schemas.microsoft.com/office/powerpoint/2010/main" val="299231765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257300" y="2909102"/>
            <a:ext cx="4800600" cy="299639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633864" y="2909102"/>
            <a:ext cx="4800600" cy="299639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FDE0EACB-5BDD-4751-8169-4EF913F81BB0}" type="datetimeFigureOut">
              <a:rPr lang="ru-RU" smtClean="0"/>
              <a:t>13.03.2026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05EE6504-62ED-43CA-9325-9A0ACF31C44A}" type="slidenum">
              <a:rPr lang="ru-RU" smtClean="0"/>
              <a:t>‹#›</a:t>
            </a:fld>
            <a:endParaRPr lang="ru-RU"/>
          </a:p>
        </p:txBody>
      </p:sp>
    </p:spTree>
    <p:extLst>
      <p:ext uri="{BB962C8B-B14F-4D97-AF65-F5344CB8AC3E}">
        <p14:creationId xmlns:p14="http://schemas.microsoft.com/office/powerpoint/2010/main" val="194898051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FDE0EACB-5BDD-4751-8169-4EF913F81BB0}" type="datetimeFigureOut">
              <a:rPr lang="ru-RU" smtClean="0"/>
              <a:t>13.03.2026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05EE6504-62ED-43CA-9325-9A0ACF31C44A}" type="slidenum">
              <a:rPr lang="ru-RU" smtClean="0"/>
              <a:t>‹#›</a:t>
            </a:fld>
            <a:endParaRPr lang="ru-RU"/>
          </a:p>
        </p:txBody>
      </p:sp>
    </p:spTree>
    <p:extLst>
      <p:ext uri="{BB962C8B-B14F-4D97-AF65-F5344CB8AC3E}">
        <p14:creationId xmlns:p14="http://schemas.microsoft.com/office/powerpoint/2010/main" val="1324804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0EACB-5BDD-4751-8169-4EF913F81BB0}" type="datetimeFigureOut">
              <a:rPr lang="ru-RU" smtClean="0"/>
              <a:t>13.03.2026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05EE6504-62ED-43CA-9325-9A0ACF31C44A}" type="slidenum">
              <a:rPr lang="ru-RU" smtClean="0"/>
              <a:t>‹#›</a:t>
            </a:fld>
            <a:endParaRPr lang="ru-RU"/>
          </a:p>
        </p:txBody>
      </p:sp>
    </p:spTree>
    <p:extLst>
      <p:ext uri="{BB962C8B-B14F-4D97-AF65-F5344CB8AC3E}">
        <p14:creationId xmlns:p14="http://schemas.microsoft.com/office/powerpoint/2010/main" val="3935365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ru-RU"/>
              <a:t>Образец заголовка</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65051" y="6375679"/>
            <a:ext cx="1233355" cy="348462"/>
          </a:xfrm>
        </p:spPr>
        <p:txBody>
          <a:bodyPr/>
          <a:lstStyle/>
          <a:p>
            <a:fld id="{FDE0EACB-5BDD-4751-8169-4EF913F81BB0}" type="datetimeFigureOut">
              <a:rPr lang="ru-RU" smtClean="0"/>
              <a:t>13.03.2026</a:t>
            </a:fld>
            <a:endParaRPr lang="ru-RU"/>
          </a:p>
        </p:txBody>
      </p:sp>
      <p:sp>
        <p:nvSpPr>
          <p:cNvPr id="6" name="Footer Placeholder 5"/>
          <p:cNvSpPr>
            <a:spLocks noGrp="1"/>
          </p:cNvSpPr>
          <p:nvPr>
            <p:ph type="ftr" sz="quarter" idx="11"/>
          </p:nvPr>
        </p:nvSpPr>
        <p:spPr>
          <a:xfrm>
            <a:off x="2103620" y="6375679"/>
            <a:ext cx="3482179" cy="345796"/>
          </a:xfrm>
        </p:spPr>
        <p:txBody>
          <a:bodyPr/>
          <a:lstStyle/>
          <a:p>
            <a:endParaRPr lang="ru-RU"/>
          </a:p>
        </p:txBody>
      </p:sp>
      <p:sp>
        <p:nvSpPr>
          <p:cNvPr id="7" name="Slide Number Placeholder 6"/>
          <p:cNvSpPr>
            <a:spLocks noGrp="1"/>
          </p:cNvSpPr>
          <p:nvPr>
            <p:ph type="sldNum" sz="quarter" idx="12"/>
          </p:nvPr>
        </p:nvSpPr>
        <p:spPr>
          <a:xfrm>
            <a:off x="5691014" y="6375679"/>
            <a:ext cx="1232456" cy="345796"/>
          </a:xfrm>
        </p:spPr>
        <p:txBody>
          <a:bodyPr/>
          <a:lstStyle/>
          <a:p>
            <a:fld id="{05EE6504-62ED-43CA-9325-9A0ACF31C44A}" type="slidenum">
              <a:rPr lang="ru-RU" smtClean="0"/>
              <a:t>‹#›</a:t>
            </a:fld>
            <a:endParaRPr lang="ru-RU"/>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2307396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ru-RU"/>
              <a:t>Образец заголовка</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65950" y="6375679"/>
            <a:ext cx="1232456" cy="348462"/>
          </a:xfrm>
        </p:spPr>
        <p:txBody>
          <a:bodyPr/>
          <a:lstStyle/>
          <a:p>
            <a:fld id="{FDE0EACB-5BDD-4751-8169-4EF913F81BB0}" type="datetimeFigureOut">
              <a:rPr lang="ru-RU" smtClean="0"/>
              <a:t>13.03.2026</a:t>
            </a:fld>
            <a:endParaRPr lang="ru-RU"/>
          </a:p>
        </p:txBody>
      </p:sp>
      <p:sp>
        <p:nvSpPr>
          <p:cNvPr id="6" name="Footer Placeholder 5"/>
          <p:cNvSpPr>
            <a:spLocks noGrp="1"/>
          </p:cNvSpPr>
          <p:nvPr>
            <p:ph type="ftr" sz="quarter" idx="11"/>
          </p:nvPr>
        </p:nvSpPr>
        <p:spPr>
          <a:xfrm>
            <a:off x="2103621" y="6375679"/>
            <a:ext cx="3482178" cy="345796"/>
          </a:xfrm>
        </p:spPr>
        <p:txBody>
          <a:bodyPr/>
          <a:lstStyle/>
          <a:p>
            <a:endParaRPr lang="ru-RU"/>
          </a:p>
        </p:txBody>
      </p:sp>
      <p:sp>
        <p:nvSpPr>
          <p:cNvPr id="7" name="Slide Number Placeholder 6"/>
          <p:cNvSpPr>
            <a:spLocks noGrp="1"/>
          </p:cNvSpPr>
          <p:nvPr>
            <p:ph type="sldNum" sz="quarter" idx="12"/>
          </p:nvPr>
        </p:nvSpPr>
        <p:spPr>
          <a:xfrm>
            <a:off x="5687568" y="6375679"/>
            <a:ext cx="1234440" cy="345796"/>
          </a:xfrm>
        </p:spPr>
        <p:txBody>
          <a:bodyPr/>
          <a:lstStyle/>
          <a:p>
            <a:fld id="{05EE6504-62ED-43CA-9325-9A0ACF31C44A}" type="slidenum">
              <a:rPr lang="ru-RU" smtClean="0"/>
              <a:t>‹#›</a:t>
            </a:fld>
            <a:endParaRPr lang="ru-RU"/>
          </a:p>
        </p:txBody>
      </p:sp>
    </p:spTree>
    <p:extLst>
      <p:ext uri="{BB962C8B-B14F-4D97-AF65-F5344CB8AC3E}">
        <p14:creationId xmlns:p14="http://schemas.microsoft.com/office/powerpoint/2010/main" val="3217963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DE0EACB-5BDD-4751-8169-4EF913F81BB0}" type="datetimeFigureOut">
              <a:rPr lang="ru-RU" smtClean="0"/>
              <a:t>13.03.2026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5EE6504-62ED-43CA-9325-9A0ACF31C44A}" type="slidenum">
              <a:rPr lang="ru-RU" smtClean="0"/>
              <a:t>‹#›</a:t>
            </a:fld>
            <a:endParaRPr lang="ru-RU"/>
          </a:p>
        </p:txBody>
      </p:sp>
    </p:spTree>
    <p:extLst>
      <p:ext uri="{BB962C8B-B14F-4D97-AF65-F5344CB8AC3E}">
        <p14:creationId xmlns:p14="http://schemas.microsoft.com/office/powerpoint/2010/main" val="3417707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DE0EACB-5BDD-4751-8169-4EF913F81BB0}" type="datetimeFigureOut">
              <a:rPr lang="ru-RU" smtClean="0"/>
              <a:t>13.03.2026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5EE6504-62ED-43CA-9325-9A0ACF31C44A}" type="slidenum">
              <a:rPr lang="ru-RU" smtClean="0"/>
              <a:t>‹#›</a:t>
            </a:fld>
            <a:endParaRPr lang="ru-RU"/>
          </a:p>
        </p:txBody>
      </p:sp>
    </p:spTree>
    <p:extLst>
      <p:ext uri="{BB962C8B-B14F-4D97-AF65-F5344CB8AC3E}">
        <p14:creationId xmlns:p14="http://schemas.microsoft.com/office/powerpoint/2010/main" val="1882624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FDE0EACB-5BDD-4751-8169-4EF913F81BB0}" type="datetimeFigureOut">
              <a:rPr lang="ru-RU" smtClean="0"/>
              <a:t>13.03.2026</a:t>
            </a:fld>
            <a:endParaRPr lang="ru-RU"/>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ru-RU"/>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05EE6504-62ED-43CA-9325-9A0ACF31C44A}" type="slidenum">
              <a:rPr lang="ru-RU" smtClean="0"/>
              <a:t>‹#›</a:t>
            </a:fld>
            <a:endParaRPr lang="ru-RU"/>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1310995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ru.wikipedia.org/wiki/%D0%9D%D0%B0%D0%BF%D1%91%D1%80%D1%81%D1%82%D0%BA%D0%B8_%28%D0%B8%D0%B3%D1%80%D0%B0%29" TargetMode="Externa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5.xml"/><Relationship Id="rId6" Type="http://schemas.openxmlformats.org/officeDocument/2006/relationships/customXml" Target="../ink/ink3.xml"/><Relationship Id="rId5" Type="http://schemas.openxmlformats.org/officeDocument/2006/relationships/image" Target="../media/image3.png"/><Relationship Id="rId4" Type="http://schemas.openxmlformats.org/officeDocument/2006/relationships/customXml" Target="../ink/ink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customXml" Target="../ink/ink4.xml"/><Relationship Id="rId1" Type="http://schemas.openxmlformats.org/officeDocument/2006/relationships/slideLayout" Target="../slideLayouts/slideLayout5.xml"/><Relationship Id="rId6" Type="http://schemas.openxmlformats.org/officeDocument/2006/relationships/customXml" Target="../ink/ink6.xml"/><Relationship Id="rId5" Type="http://schemas.openxmlformats.org/officeDocument/2006/relationships/image" Target="../media/image6.png"/><Relationship Id="rId4" Type="http://schemas.openxmlformats.org/officeDocument/2006/relationships/customXml" Target="../ink/ink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7.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customXml" Target="../ink/ink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2A4216-29F7-337F-73C0-F50F1F1FE660}"/>
              </a:ext>
            </a:extLst>
          </p:cNvPr>
          <p:cNvSpPr>
            <a:spLocks noGrp="1"/>
          </p:cNvSpPr>
          <p:nvPr>
            <p:ph type="ctrTitle"/>
          </p:nvPr>
        </p:nvSpPr>
        <p:spPr/>
        <p:txBody>
          <a:bodyPr/>
          <a:lstStyle/>
          <a:p>
            <a:r>
              <a:rPr lang="ru-RU" dirty="0"/>
              <a:t>Наперстки</a:t>
            </a:r>
          </a:p>
        </p:txBody>
      </p:sp>
      <p:sp>
        <p:nvSpPr>
          <p:cNvPr id="3" name="Подзаголовок 2">
            <a:extLst>
              <a:ext uri="{FF2B5EF4-FFF2-40B4-BE49-F238E27FC236}">
                <a16:creationId xmlns:a16="http://schemas.microsoft.com/office/drawing/2014/main" id="{A7CD2F0E-0B19-7BB8-9B59-E91B17535EBA}"/>
              </a:ext>
            </a:extLst>
          </p:cNvPr>
          <p:cNvSpPr>
            <a:spLocks noGrp="1"/>
          </p:cNvSpPr>
          <p:nvPr>
            <p:ph type="subTitle" idx="1"/>
          </p:nvPr>
        </p:nvSpPr>
        <p:spPr/>
        <p:txBody>
          <a:bodyPr>
            <a:normAutofit fontScale="85000" lnSpcReduction="10000"/>
          </a:bodyPr>
          <a:lstStyle/>
          <a:p>
            <a:r>
              <a:rPr lang="ru-RU" dirty="0"/>
              <a:t>Проект выполнили студенты группы ПР-31:</a:t>
            </a:r>
          </a:p>
          <a:p>
            <a:r>
              <a:rPr lang="ru-RU" dirty="0"/>
              <a:t>Калиновская В.Д, Рудных Е.Ю, </a:t>
            </a:r>
            <a:r>
              <a:rPr lang="ru-RU" dirty="0" err="1"/>
              <a:t>Хворенков</a:t>
            </a:r>
            <a:r>
              <a:rPr lang="ru-RU" dirty="0"/>
              <a:t> А.О</a:t>
            </a:r>
          </a:p>
        </p:txBody>
      </p:sp>
    </p:spTree>
    <p:extLst>
      <p:ext uri="{BB962C8B-B14F-4D97-AF65-F5344CB8AC3E}">
        <p14:creationId xmlns:p14="http://schemas.microsoft.com/office/powerpoint/2010/main" val="3448507041"/>
      </p:ext>
    </p:extLst>
  </p:cSld>
  <p:clrMapOvr>
    <a:masterClrMapping/>
  </p:clrMapOvr>
  <mc:AlternateContent xmlns:mc="http://schemas.openxmlformats.org/markup-compatibility/2006" xmlns:p14="http://schemas.microsoft.com/office/powerpoint/2010/main">
    <mc:Choice Requires="p14">
      <p:transition spd="slow" p14:dur="2000" advTm="1584"/>
    </mc:Choice>
    <mc:Fallback xmlns="">
      <p:transition spd="slow" advTm="158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E052B2B-591B-7A0F-6E50-E8241A204D12}"/>
              </a:ext>
            </a:extLst>
          </p:cNvPr>
          <p:cNvSpPr>
            <a:spLocks noGrp="1"/>
          </p:cNvSpPr>
          <p:nvPr>
            <p:ph type="title"/>
          </p:nvPr>
        </p:nvSpPr>
        <p:spPr>
          <a:xfrm>
            <a:off x="7956884" y="457200"/>
            <a:ext cx="4190999" cy="1196670"/>
          </a:xfrm>
        </p:spPr>
        <p:txBody>
          <a:bodyPr>
            <a:noAutofit/>
          </a:bodyPr>
          <a:lstStyle/>
          <a:p>
            <a:r>
              <a:rPr lang="ru-RU" sz="5100" dirty="0">
                <a:solidFill>
                  <a:srgbClr val="FEFAC9"/>
                </a:solidFill>
                <a:latin typeface="Impact (Заголовки)"/>
              </a:rPr>
              <a:t>Суть игры</a:t>
            </a:r>
          </a:p>
        </p:txBody>
      </p:sp>
      <p:sp>
        <p:nvSpPr>
          <p:cNvPr id="4" name="Текст 3">
            <a:extLst>
              <a:ext uri="{FF2B5EF4-FFF2-40B4-BE49-F238E27FC236}">
                <a16:creationId xmlns:a16="http://schemas.microsoft.com/office/drawing/2014/main" id="{A3DFF517-246E-5399-C2E4-2074D89A20FF}"/>
              </a:ext>
            </a:extLst>
          </p:cNvPr>
          <p:cNvSpPr>
            <a:spLocks noGrp="1"/>
          </p:cNvSpPr>
          <p:nvPr>
            <p:ph type="body" sz="half" idx="2"/>
          </p:nvPr>
        </p:nvSpPr>
        <p:spPr>
          <a:xfrm>
            <a:off x="7956884" y="1741336"/>
            <a:ext cx="3914273" cy="4659464"/>
          </a:xfrm>
        </p:spPr>
        <p:txBody>
          <a:bodyPr>
            <a:normAutofit/>
          </a:bodyPr>
          <a:lstStyle/>
          <a:p>
            <a:r>
              <a:rPr lang="ru-RU" b="1" dirty="0"/>
              <a:t>Наперстки </a:t>
            </a:r>
            <a:r>
              <a:rPr lang="ru-RU" dirty="0"/>
              <a:t>— игра, в которой участвуют двое: ведущий(компьютер) и игрок. У ведущего есть три одинаковых непрозрачных напёрстка, под один из которых он прячет маленький шарик, после чего быстро меняет напёрстки местами. Игроку предлагается угадать, под каким из напёрстков находится шарик. </a:t>
            </a:r>
          </a:p>
          <a:p>
            <a:endParaRPr lang="ru-RU" dirty="0"/>
          </a:p>
          <a:p>
            <a:r>
              <a:rPr lang="ru-RU" dirty="0"/>
              <a:t>В случае выигрыша получает очки, если шарика под напёрстком нет — игрок лишается своих очков. </a:t>
            </a:r>
            <a:br>
              <a:rPr lang="ru-RU" dirty="0">
                <a:hlinkClick r:id="rId2"/>
              </a:rPr>
            </a:br>
            <a:endParaRPr lang="ru-RU" dirty="0"/>
          </a:p>
          <a:p>
            <a:endParaRPr lang="ru-RU" dirty="0"/>
          </a:p>
        </p:txBody>
      </p:sp>
      <p:pic>
        <p:nvPicPr>
          <p:cNvPr id="10" name="Рисунок 9">
            <a:extLst>
              <a:ext uri="{FF2B5EF4-FFF2-40B4-BE49-F238E27FC236}">
                <a16:creationId xmlns:a16="http://schemas.microsoft.com/office/drawing/2014/main" id="{2F981CC2-722B-2A85-4417-0B8365ECA9A2}"/>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4926" r="5238"/>
          <a:stretch>
            <a:fillRect/>
          </a:stretch>
        </p:blipFill>
        <p:spPr>
          <a:xfrm>
            <a:off x="-534132" y="-466754"/>
            <a:ext cx="8073007" cy="5398167"/>
          </a:xfrm>
          <a:prstGeom prst="rect">
            <a:avLst/>
          </a:prstGeom>
        </p:spPr>
      </p:pic>
    </p:spTree>
    <p:extLst>
      <p:ext uri="{BB962C8B-B14F-4D97-AF65-F5344CB8AC3E}">
        <p14:creationId xmlns:p14="http://schemas.microsoft.com/office/powerpoint/2010/main" val="629442299"/>
      </p:ext>
    </p:extLst>
  </p:cSld>
  <p:clrMapOvr>
    <a:masterClrMapping/>
  </p:clrMapOvr>
  <mc:AlternateContent xmlns:mc="http://schemas.openxmlformats.org/markup-compatibility/2006" xmlns:p14="http://schemas.microsoft.com/office/powerpoint/2010/main">
    <mc:Choice Requires="p14">
      <p:transition spd="slow" p14:dur="2000" advTm="2276"/>
    </mc:Choice>
    <mc:Fallback xmlns="">
      <p:transition spd="slow" advTm="227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6EE92D-5BCF-0324-7846-F88F6079F222}"/>
              </a:ext>
            </a:extLst>
          </p:cNvPr>
          <p:cNvSpPr>
            <a:spLocks noGrp="1"/>
          </p:cNvSpPr>
          <p:nvPr>
            <p:ph type="title"/>
          </p:nvPr>
        </p:nvSpPr>
        <p:spPr/>
        <p:txBody>
          <a:bodyPr/>
          <a:lstStyle/>
          <a:p>
            <a:r>
              <a:rPr lang="ru-RU" dirty="0"/>
              <a:t>Реализация</a:t>
            </a:r>
          </a:p>
        </p:txBody>
      </p:sp>
      <p:sp>
        <p:nvSpPr>
          <p:cNvPr id="3" name="Объект 2">
            <a:extLst>
              <a:ext uri="{FF2B5EF4-FFF2-40B4-BE49-F238E27FC236}">
                <a16:creationId xmlns:a16="http://schemas.microsoft.com/office/drawing/2014/main" id="{3AAEB62A-9221-2F93-7091-09422F20AC84}"/>
              </a:ext>
            </a:extLst>
          </p:cNvPr>
          <p:cNvSpPr>
            <a:spLocks noGrp="1"/>
          </p:cNvSpPr>
          <p:nvPr>
            <p:ph idx="1"/>
          </p:nvPr>
        </p:nvSpPr>
        <p:spPr>
          <a:xfrm>
            <a:off x="1251678" y="1161143"/>
            <a:ext cx="10178322" cy="5314472"/>
          </a:xfrm>
        </p:spPr>
        <p:txBody>
          <a:bodyPr>
            <a:normAutofit fontScale="92500" lnSpcReduction="20000"/>
          </a:bodyPr>
          <a:lstStyle/>
          <a:p>
            <a:pPr marL="0" indent="0">
              <a:buNone/>
            </a:pPr>
            <a:r>
              <a:rPr lang="ru-RU" dirty="0"/>
              <a:t>Мы разработали классическую игру «Напёрстки» на C++. Наша главная цель заключалась в создании системы, где каждый элемент интерфейса является независимым процессом.</a:t>
            </a:r>
          </a:p>
          <a:p>
            <a:r>
              <a:rPr lang="ru-RU" b="1" dirty="0"/>
              <a:t>Главный процесс (main.exe)</a:t>
            </a:r>
            <a:r>
              <a:rPr lang="ru-RU" dirty="0"/>
              <a:t>: Выступает контроллером. Он управляет логикой, счётчиком очков и координирует действия.</a:t>
            </a:r>
          </a:p>
          <a:p>
            <a:r>
              <a:rPr lang="ru-RU" b="1" dirty="0"/>
              <a:t>Стаканы (Glass.exe)</a:t>
            </a:r>
            <a:r>
              <a:rPr lang="ru-RU" dirty="0"/>
              <a:t>: Мы запускаем 3 независимых процесса для каждого стакана. Это позволяет им иметь свои собственные окна, заголовки и поведение.</a:t>
            </a:r>
          </a:p>
          <a:p>
            <a:r>
              <a:rPr lang="ru-RU" b="1" dirty="0"/>
              <a:t>Мяч (Ball.exe)</a:t>
            </a:r>
            <a:r>
              <a:rPr lang="ru-RU" dirty="0"/>
              <a:t>: Ещё один отдельный процесс, который визуально представляет шарик.</a:t>
            </a:r>
          </a:p>
          <a:p>
            <a:pPr marL="0" indent="0">
              <a:buNone/>
            </a:pPr>
            <a:r>
              <a:rPr lang="ru-RU" dirty="0"/>
              <a:t>Мы создали </a:t>
            </a:r>
            <a:r>
              <a:rPr lang="ru-RU" b="1" dirty="0"/>
              <a:t>именованные события: </a:t>
            </a:r>
            <a:r>
              <a:rPr lang="ru-RU" dirty="0"/>
              <a:t>одно для мяча и три для стаканов. Дочерние процессы должны сигнализировать о своей готовности, устанавливая эти события. Главный процесс вызывает </a:t>
            </a:r>
            <a:r>
              <a:rPr lang="ru-RU" dirty="0" err="1"/>
              <a:t>WaitForMultipleObjects</a:t>
            </a:r>
            <a:r>
              <a:rPr lang="ru-RU" dirty="0"/>
              <a:t>, чтобы гарантированно начать игру только тогда, когда все окна созданы и готовы к работе.</a:t>
            </a:r>
          </a:p>
          <a:p>
            <a:pPr marL="0" indent="0">
              <a:buNone/>
            </a:pPr>
            <a:r>
              <a:rPr lang="ru-RU" dirty="0"/>
              <a:t>Мы ведём переменную </a:t>
            </a:r>
            <a:r>
              <a:rPr lang="ru-RU" dirty="0" err="1"/>
              <a:t>ballUnderGlassIndex</a:t>
            </a:r>
            <a:r>
              <a:rPr lang="ru-RU" dirty="0"/>
              <a:t>, которая хранит индекс стакана под мячом. Визуальное перемещение всегда синхронизировано с этой переменной. Мы организовали цикл опроса консоли с валидацией ввода при ответе. Реализовали систему очков с условиями окончания игры.</a:t>
            </a:r>
          </a:p>
          <a:p>
            <a:pPr marL="0" indent="0">
              <a:buNone/>
            </a:pPr>
            <a:r>
              <a:rPr lang="ru-RU" dirty="0"/>
              <a:t>В конце игры мы корректно закрываем дескрипторы процессов и потоков (</a:t>
            </a:r>
            <a:r>
              <a:rPr lang="ru-RU" dirty="0" err="1"/>
              <a:t>CloseHandle</a:t>
            </a:r>
            <a:r>
              <a:rPr lang="ru-RU" dirty="0"/>
              <a:t>), чтобы не было утечек памяти.</a:t>
            </a:r>
          </a:p>
          <a:p>
            <a:pPr marL="0" indent="0">
              <a:buNone/>
            </a:pPr>
            <a:endParaRPr lang="ru-RU" dirty="0"/>
          </a:p>
        </p:txBody>
      </p:sp>
    </p:spTree>
    <p:extLst>
      <p:ext uri="{BB962C8B-B14F-4D97-AF65-F5344CB8AC3E}">
        <p14:creationId xmlns:p14="http://schemas.microsoft.com/office/powerpoint/2010/main" val="4071758027"/>
      </p:ext>
    </p:extLst>
  </p:cSld>
  <p:clrMapOvr>
    <a:masterClrMapping/>
  </p:clrMapOvr>
  <mc:AlternateContent xmlns:mc="http://schemas.openxmlformats.org/markup-compatibility/2006" xmlns:p14="http://schemas.microsoft.com/office/powerpoint/2010/main">
    <mc:Choice Requires="p14">
      <p:transition spd="slow" p14:dur="2000" advTm="2986"/>
    </mc:Choice>
    <mc:Fallback xmlns="">
      <p:transition spd="slow" advTm="298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BB2CAA-208C-B505-AE15-8BEA02D32597}"/>
              </a:ext>
            </a:extLst>
          </p:cNvPr>
          <p:cNvSpPr>
            <a:spLocks noGrp="1"/>
          </p:cNvSpPr>
          <p:nvPr>
            <p:ph type="title"/>
          </p:nvPr>
        </p:nvSpPr>
        <p:spPr/>
        <p:txBody>
          <a:bodyPr/>
          <a:lstStyle/>
          <a:p>
            <a:r>
              <a:rPr lang="ru-RU" dirty="0"/>
              <a:t>Методы</a:t>
            </a:r>
          </a:p>
        </p:txBody>
      </p:sp>
      <p:sp>
        <p:nvSpPr>
          <p:cNvPr id="3" name="Текст 2">
            <a:extLst>
              <a:ext uri="{FF2B5EF4-FFF2-40B4-BE49-F238E27FC236}">
                <a16:creationId xmlns:a16="http://schemas.microsoft.com/office/drawing/2014/main" id="{A15791E8-F849-76DE-4C24-CD6AFFA5784C}"/>
              </a:ext>
            </a:extLst>
          </p:cNvPr>
          <p:cNvSpPr>
            <a:spLocks noGrp="1"/>
          </p:cNvSpPr>
          <p:nvPr>
            <p:ph type="body" idx="1"/>
          </p:nvPr>
        </p:nvSpPr>
        <p:spPr>
          <a:xfrm>
            <a:off x="1257300" y="1443016"/>
            <a:ext cx="4174958" cy="632529"/>
          </a:xfrm>
        </p:spPr>
        <p:txBody>
          <a:bodyPr/>
          <a:lstStyle/>
          <a:p>
            <a:r>
              <a:rPr lang="en-US" dirty="0"/>
              <a:t>void </a:t>
            </a:r>
            <a:r>
              <a:rPr lang="en-US" dirty="0" err="1"/>
              <a:t>ShuffleGlasses</a:t>
            </a:r>
            <a:r>
              <a:rPr lang="en-US" dirty="0"/>
              <a:t>(vector&lt;HWND&gt;&amp; </a:t>
            </a:r>
            <a:r>
              <a:rPr lang="en-US" dirty="0" err="1"/>
              <a:t>hWnds</a:t>
            </a:r>
            <a:r>
              <a:rPr lang="en-US" dirty="0"/>
              <a:t>)</a:t>
            </a:r>
            <a:endParaRPr lang="ru-RU" dirty="0"/>
          </a:p>
        </p:txBody>
      </p:sp>
      <p:sp>
        <p:nvSpPr>
          <p:cNvPr id="4" name="Объект 3">
            <a:extLst>
              <a:ext uri="{FF2B5EF4-FFF2-40B4-BE49-F238E27FC236}">
                <a16:creationId xmlns:a16="http://schemas.microsoft.com/office/drawing/2014/main" id="{65A2C434-36B5-6730-3C97-B79DA8C4302A}"/>
              </a:ext>
            </a:extLst>
          </p:cNvPr>
          <p:cNvSpPr>
            <a:spLocks noGrp="1"/>
          </p:cNvSpPr>
          <p:nvPr>
            <p:ph sz="half" idx="2"/>
          </p:nvPr>
        </p:nvSpPr>
        <p:spPr>
          <a:xfrm>
            <a:off x="1257300" y="2075545"/>
            <a:ext cx="4800600" cy="4401455"/>
          </a:xfrm>
        </p:spPr>
        <p:txBody>
          <a:bodyPr>
            <a:normAutofit fontScale="70000" lnSpcReduction="20000"/>
          </a:bodyPr>
          <a:lstStyle/>
          <a:p>
            <a:r>
              <a:rPr lang="ru-RU" dirty="0"/>
              <a:t>Выполняет 5 итераций перемешивания </a:t>
            </a:r>
          </a:p>
          <a:p>
            <a:r>
              <a:rPr lang="ru-RU" dirty="0"/>
              <a:t>На каждой итерации случайно выбирает два разных индекса стаканов</a:t>
            </a:r>
          </a:p>
          <a:p>
            <a:r>
              <a:rPr lang="ru-RU" dirty="0"/>
              <a:t>Получает текущие координаты выбранных окон через </a:t>
            </a:r>
            <a:r>
              <a:rPr lang="ru-RU" dirty="0" err="1"/>
              <a:t>GetWindowRect</a:t>
            </a:r>
            <a:r>
              <a:rPr lang="ru-RU" dirty="0"/>
              <a:t>.</a:t>
            </a:r>
          </a:p>
          <a:p>
            <a:r>
              <a:rPr lang="ru-RU" dirty="0" err="1"/>
              <a:t>Анимированно</a:t>
            </a:r>
            <a:r>
              <a:rPr lang="ru-RU" dirty="0"/>
              <a:t> меняет их местами по горизонтали за 10 шагов:</a:t>
            </a:r>
          </a:p>
          <a:p>
            <a:pPr marL="457200" lvl="1" indent="0">
              <a:buNone/>
            </a:pPr>
            <a:r>
              <a:rPr lang="ru-RU" dirty="0"/>
              <a:t>На каждом шаге обновляет позицию окон через </a:t>
            </a:r>
            <a:r>
              <a:rPr lang="ru-RU" dirty="0" err="1"/>
              <a:t>SetWindowPos</a:t>
            </a:r>
            <a:r>
              <a:rPr lang="ru-RU" dirty="0"/>
              <a:t>.</a:t>
            </a:r>
          </a:p>
          <a:p>
            <a:pPr marL="457200" lvl="1" indent="0">
              <a:buNone/>
            </a:pPr>
            <a:r>
              <a:rPr lang="ru-RU" dirty="0"/>
              <a:t>Если мяч находится под одним из перемещаемых стаканов — мяч двигается вместе с ним, сохраняя относительное позиционирование.</a:t>
            </a:r>
          </a:p>
          <a:p>
            <a:r>
              <a:rPr lang="ru-RU" dirty="0"/>
              <a:t>После завершения анимации меняет местами элементы, чтобы логический порядок соответствовал визуальному.</a:t>
            </a:r>
          </a:p>
          <a:p>
            <a:r>
              <a:rPr lang="ru-RU" dirty="0"/>
              <a:t>Обновляет глобальную переменную </a:t>
            </a:r>
            <a:r>
              <a:rPr lang="ru-RU" dirty="0" err="1"/>
              <a:t>ballUnderGlassIndex</a:t>
            </a:r>
            <a:r>
              <a:rPr lang="ru-RU" dirty="0"/>
              <a:t>, если стакан с мячом участвовал в обмене.</a:t>
            </a:r>
          </a:p>
          <a:p>
            <a:r>
              <a:rPr lang="ru-RU" dirty="0"/>
              <a:t>Делает паузу </a:t>
            </a:r>
            <a:r>
              <a:rPr lang="ru-RU" dirty="0" err="1"/>
              <a:t>Sleep</a:t>
            </a:r>
            <a:r>
              <a:rPr lang="ru-RU" dirty="0"/>
              <a:t>(150) между </a:t>
            </a:r>
            <a:r>
              <a:rPr lang="ru-RU" dirty="0" err="1"/>
              <a:t>свапами</a:t>
            </a:r>
            <a:r>
              <a:rPr lang="ru-RU" dirty="0"/>
              <a:t> для плавности.</a:t>
            </a:r>
          </a:p>
          <a:p>
            <a:endParaRPr lang="ru-RU" dirty="0"/>
          </a:p>
        </p:txBody>
      </p:sp>
      <p:sp>
        <p:nvSpPr>
          <p:cNvPr id="5" name="Текст 4">
            <a:extLst>
              <a:ext uri="{FF2B5EF4-FFF2-40B4-BE49-F238E27FC236}">
                <a16:creationId xmlns:a16="http://schemas.microsoft.com/office/drawing/2014/main" id="{0CDB94A5-B2A1-BB7E-F084-95A7C26CB9C4}"/>
              </a:ext>
            </a:extLst>
          </p:cNvPr>
          <p:cNvSpPr>
            <a:spLocks noGrp="1"/>
          </p:cNvSpPr>
          <p:nvPr>
            <p:ph type="body" sz="quarter" idx="3"/>
          </p:nvPr>
        </p:nvSpPr>
        <p:spPr>
          <a:xfrm>
            <a:off x="6624828" y="1342502"/>
            <a:ext cx="4800600" cy="632529"/>
          </a:xfrm>
        </p:spPr>
        <p:txBody>
          <a:bodyPr/>
          <a:lstStyle/>
          <a:p>
            <a:r>
              <a:rPr lang="en-US" dirty="0"/>
              <a:t>void </a:t>
            </a:r>
            <a:r>
              <a:rPr lang="en-US" dirty="0" err="1"/>
              <a:t>StartGame</a:t>
            </a:r>
            <a:r>
              <a:rPr lang="en-US" dirty="0"/>
              <a:t>()</a:t>
            </a:r>
            <a:endParaRPr lang="ru-RU" dirty="0"/>
          </a:p>
        </p:txBody>
      </p:sp>
      <p:sp>
        <p:nvSpPr>
          <p:cNvPr id="6" name="Объект 5">
            <a:extLst>
              <a:ext uri="{FF2B5EF4-FFF2-40B4-BE49-F238E27FC236}">
                <a16:creationId xmlns:a16="http://schemas.microsoft.com/office/drawing/2014/main" id="{C2968126-7C2F-BD5C-A7FD-CDFE9C5D4F56}"/>
              </a:ext>
            </a:extLst>
          </p:cNvPr>
          <p:cNvSpPr>
            <a:spLocks noGrp="1"/>
          </p:cNvSpPr>
          <p:nvPr>
            <p:ph sz="quarter" idx="4"/>
          </p:nvPr>
        </p:nvSpPr>
        <p:spPr>
          <a:xfrm>
            <a:off x="6633864" y="2075545"/>
            <a:ext cx="4800600" cy="4401455"/>
          </a:xfrm>
        </p:spPr>
        <p:txBody>
          <a:bodyPr>
            <a:normAutofit fontScale="70000" lnSpcReduction="20000"/>
          </a:bodyPr>
          <a:lstStyle/>
          <a:p>
            <a:r>
              <a:rPr lang="ru-RU" dirty="0"/>
              <a:t>Создаёт 3 процесса Glass.exe с аргументами номеров стаканов.</a:t>
            </a:r>
          </a:p>
          <a:p>
            <a:r>
              <a:rPr lang="ru-RU" dirty="0"/>
              <a:t>Создаёт 1 процесс Ball.exe для мяча.</a:t>
            </a:r>
          </a:p>
          <a:p>
            <a:r>
              <a:rPr lang="ru-RU" dirty="0"/>
              <a:t>Ждёт, пока все окна создадутся и будут готовы, используя 4 события (</a:t>
            </a:r>
            <a:r>
              <a:rPr lang="ru-RU" dirty="0" err="1"/>
              <a:t>WaitForMultipleObjects</a:t>
            </a:r>
            <a:r>
              <a:rPr lang="ru-RU" dirty="0"/>
              <a:t>).</a:t>
            </a:r>
          </a:p>
          <a:p>
            <a:r>
              <a:rPr lang="ru-RU" dirty="0"/>
              <a:t>Находит окна по заголовкам, расставляет стаканы в ряд, размещает мяч под вторым стаканом.</a:t>
            </a:r>
          </a:p>
          <a:p>
            <a:r>
              <a:rPr lang="ru-RU" dirty="0"/>
              <a:t>Кратковременно показывает, где мяч: поднимает стакан, показывает мяч, опускает стакан и скрывает мяч.</a:t>
            </a:r>
          </a:p>
          <a:p>
            <a:r>
              <a:rPr lang="ru-RU" dirty="0"/>
              <a:t>Вызывает </a:t>
            </a:r>
            <a:r>
              <a:rPr lang="ru-RU" dirty="0" err="1"/>
              <a:t>ShuffleGlasses</a:t>
            </a:r>
            <a:r>
              <a:rPr lang="ru-RU" dirty="0"/>
              <a:t>() — стаканы меняются местами с анимацией, мяч «ездит» вместе со своим стаканом.</a:t>
            </a:r>
          </a:p>
          <a:p>
            <a:r>
              <a:rPr lang="ru-RU" dirty="0"/>
              <a:t>Перемешивает стаканы, запрашивает у игрока номер стакана и проверяет ответ(если верно - +10 очков, если неверно -10)</a:t>
            </a:r>
          </a:p>
          <a:p>
            <a:r>
              <a:rPr lang="ru-RU" dirty="0"/>
              <a:t>Проверяет победу (100</a:t>
            </a:r>
            <a:r>
              <a:rPr lang="en-US" dirty="0"/>
              <a:t> </a:t>
            </a:r>
            <a:r>
              <a:rPr lang="ru-RU" dirty="0"/>
              <a:t>очков) или поражение (0 очков)</a:t>
            </a:r>
          </a:p>
          <a:p>
            <a:endParaRPr lang="ru-RU" dirty="0"/>
          </a:p>
        </p:txBody>
      </p:sp>
    </p:spTree>
    <p:extLst>
      <p:ext uri="{BB962C8B-B14F-4D97-AF65-F5344CB8AC3E}">
        <p14:creationId xmlns:p14="http://schemas.microsoft.com/office/powerpoint/2010/main" val="2491066821"/>
      </p:ext>
    </p:extLst>
  </p:cSld>
  <p:clrMapOvr>
    <a:masterClrMapping/>
  </p:clrMapOvr>
  <mc:AlternateContent xmlns:mc="http://schemas.openxmlformats.org/markup-compatibility/2006" xmlns:p14="http://schemas.microsoft.com/office/powerpoint/2010/main">
    <mc:Choice Requires="p14">
      <p:transition spd="slow" p14:dur="2000" advTm="3426"/>
    </mc:Choice>
    <mc:Fallback xmlns="">
      <p:transition spd="slow" advTm="342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3BD553-C9C7-0B03-B9A6-66124A64C378}"/>
              </a:ext>
            </a:extLst>
          </p:cNvPr>
          <p:cNvSpPr>
            <a:spLocks noGrp="1"/>
          </p:cNvSpPr>
          <p:nvPr>
            <p:ph type="title"/>
          </p:nvPr>
        </p:nvSpPr>
        <p:spPr/>
        <p:txBody>
          <a:bodyPr>
            <a:normAutofit fontScale="90000"/>
          </a:bodyPr>
          <a:lstStyle/>
          <a:p>
            <a:r>
              <a:rPr lang="ru-RU" dirty="0"/>
              <a:t>Использованные знания из курса Системного программирования</a:t>
            </a:r>
          </a:p>
        </p:txBody>
      </p:sp>
      <p:sp>
        <p:nvSpPr>
          <p:cNvPr id="4" name="Объект 3">
            <a:extLst>
              <a:ext uri="{FF2B5EF4-FFF2-40B4-BE49-F238E27FC236}">
                <a16:creationId xmlns:a16="http://schemas.microsoft.com/office/drawing/2014/main" id="{FA8A7DF6-0562-36AA-B047-5C1D9B1378DB}"/>
              </a:ext>
            </a:extLst>
          </p:cNvPr>
          <p:cNvSpPr>
            <a:spLocks noGrp="1"/>
          </p:cNvSpPr>
          <p:nvPr>
            <p:ph sz="half" idx="2"/>
          </p:nvPr>
        </p:nvSpPr>
        <p:spPr>
          <a:xfrm>
            <a:off x="1295400" y="2186726"/>
            <a:ext cx="10390632" cy="4433530"/>
          </a:xfrm>
        </p:spPr>
        <p:txBody>
          <a:bodyPr>
            <a:normAutofit lnSpcReduction="10000"/>
          </a:bodyPr>
          <a:lstStyle/>
          <a:p>
            <a:r>
              <a:rPr lang="ru-RU" sz="2800" b="1" dirty="0"/>
              <a:t>Мьютексы</a:t>
            </a:r>
            <a:r>
              <a:rPr lang="ru-RU" sz="2800" dirty="0"/>
              <a:t> – объект ядра, имеющий сигнальное и несигнальное состояние. Используются для решения проблемы взаимного исключения между потоками в контекстах разных процессов.</a:t>
            </a:r>
          </a:p>
          <a:p>
            <a:r>
              <a:rPr lang="ru-RU" sz="2800" b="1" dirty="0"/>
              <a:t>Событие </a:t>
            </a:r>
            <a:r>
              <a:rPr lang="ru-RU" sz="2800" dirty="0"/>
              <a:t>– объект синхронизации, который позволяет процессам/потокам оповещать друг друга о наступлении некоторого условия</a:t>
            </a:r>
          </a:p>
          <a:p>
            <a:r>
              <a:rPr lang="ru-RU" sz="2800" dirty="0">
                <a:latin typeface="Corbel (Основной текст)"/>
              </a:rPr>
              <a:t>В операционной системе Windows под </a:t>
            </a:r>
            <a:r>
              <a:rPr lang="ru-RU" sz="2800" b="1" dirty="0">
                <a:latin typeface="Corbel (Основной текст)"/>
              </a:rPr>
              <a:t>процессом</a:t>
            </a:r>
            <a:r>
              <a:rPr lang="ru-RU" sz="2800" dirty="0">
                <a:latin typeface="Corbel (Основной текст)"/>
              </a:rPr>
              <a:t> понимается объект ядра, которому принадлежат системные ресурсы, используемые исполняемым приложением.</a:t>
            </a:r>
          </a:p>
          <a:p>
            <a:endParaRPr lang="ru-RU" sz="2800" dirty="0"/>
          </a:p>
          <a:p>
            <a:endParaRPr lang="ru-RU" sz="2800" dirty="0"/>
          </a:p>
        </p:txBody>
      </p:sp>
    </p:spTree>
    <p:extLst>
      <p:ext uri="{BB962C8B-B14F-4D97-AF65-F5344CB8AC3E}">
        <p14:creationId xmlns:p14="http://schemas.microsoft.com/office/powerpoint/2010/main" val="2330028847"/>
      </p:ext>
    </p:extLst>
  </p:cSld>
  <p:clrMapOvr>
    <a:masterClrMapping/>
  </p:clrMapOvr>
  <mc:AlternateContent xmlns:mc="http://schemas.openxmlformats.org/markup-compatibility/2006" xmlns:p14="http://schemas.microsoft.com/office/powerpoint/2010/main">
    <mc:Choice Requires="p14">
      <p:transition spd="slow" p14:dur="2000" advTm="1302"/>
    </mc:Choice>
    <mc:Fallback xmlns="">
      <p:transition spd="slow" advTm="130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0050A3-B980-C29C-FDD4-BFF1B9EC91E7}"/>
              </a:ext>
            </a:extLst>
          </p:cNvPr>
          <p:cNvSpPr>
            <a:spLocks noGrp="1"/>
          </p:cNvSpPr>
          <p:nvPr>
            <p:ph type="title"/>
          </p:nvPr>
        </p:nvSpPr>
        <p:spPr/>
        <p:txBody>
          <a:bodyPr/>
          <a:lstStyle/>
          <a:p>
            <a:r>
              <a:rPr lang="ru-RU" dirty="0"/>
              <a:t>Процессы в проекте</a:t>
            </a:r>
          </a:p>
        </p:txBody>
      </p:sp>
      <p:sp>
        <p:nvSpPr>
          <p:cNvPr id="4" name="TextBox 3">
            <a:extLst>
              <a:ext uri="{FF2B5EF4-FFF2-40B4-BE49-F238E27FC236}">
                <a16:creationId xmlns:a16="http://schemas.microsoft.com/office/drawing/2014/main" id="{CAE3DF08-BBBE-7692-2354-E38FD0976F23}"/>
              </a:ext>
            </a:extLst>
          </p:cNvPr>
          <p:cNvSpPr txBox="1"/>
          <p:nvPr/>
        </p:nvSpPr>
        <p:spPr>
          <a:xfrm>
            <a:off x="997387" y="1948773"/>
            <a:ext cx="4612093" cy="4031873"/>
          </a:xfrm>
          <a:prstGeom prst="rect">
            <a:avLst/>
          </a:prstGeom>
          <a:noFill/>
        </p:spPr>
        <p:txBody>
          <a:bodyPr wrap="square" rtlCol="0">
            <a:spAutoFit/>
          </a:bodyPr>
          <a:lstStyle/>
          <a:p>
            <a:pPr marL="285750" indent="-285750">
              <a:buFont typeface="Arial" panose="020B0604020202020204" pitchFamily="34" charset="0"/>
              <a:buChar char="•"/>
            </a:pPr>
            <a:r>
              <a:rPr lang="ru-RU" sz="1600" dirty="0">
                <a:solidFill>
                  <a:schemeClr val="tx1">
                    <a:lumMod val="65000"/>
                    <a:lumOff val="35000"/>
                  </a:schemeClr>
                </a:solidFill>
              </a:rPr>
              <a:t>Основной процесс</a:t>
            </a:r>
          </a:p>
          <a:p>
            <a:pPr marL="285750" indent="-285750">
              <a:buFont typeface="Arial" panose="020B0604020202020204" pitchFamily="34" charset="0"/>
              <a:buChar char="•"/>
            </a:pPr>
            <a:r>
              <a:rPr lang="ru-RU" sz="1600" dirty="0">
                <a:solidFill>
                  <a:schemeClr val="tx1">
                    <a:lumMod val="65000"/>
                    <a:lumOff val="35000"/>
                  </a:schemeClr>
                </a:solidFill>
              </a:rPr>
              <a:t>Считает очки, проверяет условия победы/поражения, обрабатывает ввод пользователя.</a:t>
            </a:r>
          </a:p>
          <a:p>
            <a:pPr marL="285750" indent="-285750">
              <a:buFont typeface="Arial" panose="020B0604020202020204" pitchFamily="34" charset="0"/>
              <a:buChar char="•"/>
            </a:pPr>
            <a:r>
              <a:rPr lang="ru-RU" sz="1600" dirty="0">
                <a:solidFill>
                  <a:schemeClr val="tx1">
                    <a:lumMod val="65000"/>
                    <a:lumOff val="35000"/>
                  </a:schemeClr>
                </a:solidFill>
              </a:rPr>
              <a:t>Через </a:t>
            </a:r>
            <a:r>
              <a:rPr lang="ru-RU" sz="1600" dirty="0" err="1">
                <a:solidFill>
                  <a:schemeClr val="tx1">
                    <a:lumMod val="65000"/>
                    <a:lumOff val="35000"/>
                  </a:schemeClr>
                </a:solidFill>
              </a:rPr>
              <a:t>CreateProcessA</a:t>
            </a:r>
            <a:r>
              <a:rPr lang="ru-RU" sz="1600" dirty="0">
                <a:solidFill>
                  <a:schemeClr val="tx1">
                    <a:lumMod val="65000"/>
                    <a:lumOff val="35000"/>
                  </a:schemeClr>
                </a:solidFill>
              </a:rPr>
              <a:t> создаёт экземпляры стаканов и мяча.</a:t>
            </a:r>
          </a:p>
          <a:p>
            <a:pPr marL="285750" indent="-285750">
              <a:buFont typeface="Arial" panose="020B0604020202020204" pitchFamily="34" charset="0"/>
              <a:buChar char="•"/>
            </a:pPr>
            <a:r>
              <a:rPr lang="ru-RU" sz="1600" dirty="0">
                <a:solidFill>
                  <a:schemeClr val="tx1">
                    <a:lumMod val="65000"/>
                    <a:lumOff val="35000"/>
                  </a:schemeClr>
                </a:solidFill>
              </a:rPr>
              <a:t>Находит созданные окна, расставляет их по экрану, управляет анимацией перемещения (</a:t>
            </a:r>
            <a:r>
              <a:rPr lang="ru-RU" sz="1600" dirty="0" err="1">
                <a:solidFill>
                  <a:schemeClr val="tx1">
                    <a:lumMod val="65000"/>
                    <a:lumOff val="35000"/>
                  </a:schemeClr>
                </a:solidFill>
              </a:rPr>
              <a:t>SetWindowPos</a:t>
            </a:r>
            <a:r>
              <a:rPr lang="ru-RU" sz="1600" dirty="0">
                <a:solidFill>
                  <a:schemeClr val="tx1">
                    <a:lumMod val="65000"/>
                    <a:lumOff val="35000"/>
                  </a:schemeClr>
                </a:solidFill>
              </a:rPr>
              <a:t>).</a:t>
            </a:r>
          </a:p>
          <a:p>
            <a:pPr marL="285750" indent="-285750">
              <a:buFont typeface="Arial" panose="020B0604020202020204" pitchFamily="34" charset="0"/>
              <a:buChar char="•"/>
            </a:pPr>
            <a:r>
              <a:rPr lang="ru-RU" sz="1600" dirty="0">
                <a:solidFill>
                  <a:schemeClr val="tx1">
                    <a:lumMod val="65000"/>
                    <a:lumOff val="35000"/>
                  </a:schemeClr>
                </a:solidFill>
              </a:rPr>
              <a:t>Ждёт сигналов от дочерних процессов через события (</a:t>
            </a:r>
            <a:r>
              <a:rPr lang="ru-RU" sz="1600" dirty="0" err="1">
                <a:solidFill>
                  <a:schemeClr val="tx1">
                    <a:lumMod val="65000"/>
                    <a:lumOff val="35000"/>
                  </a:schemeClr>
                </a:solidFill>
              </a:rPr>
              <a:t>Events</a:t>
            </a:r>
            <a:r>
              <a:rPr lang="ru-RU" sz="1600" dirty="0">
                <a:solidFill>
                  <a:schemeClr val="tx1">
                    <a:lumMod val="65000"/>
                    <a:lumOff val="35000"/>
                  </a:schemeClr>
                </a:solidFill>
              </a:rPr>
              <a:t>), чтобы убедиться, что все окна готовы.</a:t>
            </a:r>
          </a:p>
          <a:p>
            <a:pPr marL="285750" indent="-285750">
              <a:buFont typeface="Arial" panose="020B0604020202020204" pitchFamily="34" charset="0"/>
              <a:buChar char="•"/>
            </a:pPr>
            <a:r>
              <a:rPr lang="ru-RU" sz="1600" dirty="0">
                <a:solidFill>
                  <a:schemeClr val="tx1">
                    <a:lumMod val="65000"/>
                    <a:lumOff val="35000"/>
                  </a:schemeClr>
                </a:solidFill>
              </a:rPr>
              <a:t>Создаёт мьютекс (</a:t>
            </a:r>
            <a:r>
              <a:rPr lang="ru-RU" sz="1600" dirty="0" err="1">
                <a:solidFill>
                  <a:schemeClr val="tx1">
                    <a:lumMod val="65000"/>
                    <a:lumOff val="35000"/>
                  </a:schemeClr>
                </a:solidFill>
              </a:rPr>
              <a:t>CreateMutexA</a:t>
            </a:r>
            <a:r>
              <a:rPr lang="ru-RU" sz="1600" dirty="0">
                <a:solidFill>
                  <a:schemeClr val="tx1">
                    <a:lumMod val="65000"/>
                    <a:lumOff val="35000"/>
                  </a:schemeClr>
                </a:solidFill>
              </a:rPr>
              <a:t>), чтобы нельзя было запустить вторую копию игры одновременно.</a:t>
            </a:r>
            <a:br>
              <a:rPr lang="ru-RU" sz="1600" dirty="0">
                <a:solidFill>
                  <a:schemeClr val="tx1">
                    <a:lumMod val="65000"/>
                    <a:lumOff val="35000"/>
                  </a:schemeClr>
                </a:solidFill>
              </a:rPr>
            </a:br>
            <a:endParaRPr lang="ru-RU" sz="1600" dirty="0">
              <a:solidFill>
                <a:schemeClr val="tx1">
                  <a:lumMod val="65000"/>
                  <a:lumOff val="35000"/>
                </a:schemeClr>
              </a:solidFill>
            </a:endParaRPr>
          </a:p>
        </p:txBody>
      </p:sp>
      <p:sp>
        <p:nvSpPr>
          <p:cNvPr id="6" name="TextBox 5">
            <a:extLst>
              <a:ext uri="{FF2B5EF4-FFF2-40B4-BE49-F238E27FC236}">
                <a16:creationId xmlns:a16="http://schemas.microsoft.com/office/drawing/2014/main" id="{EAA64C79-57EB-E810-ACB1-C6DBA7A8B700}"/>
              </a:ext>
            </a:extLst>
          </p:cNvPr>
          <p:cNvSpPr txBox="1"/>
          <p:nvPr/>
        </p:nvSpPr>
        <p:spPr>
          <a:xfrm>
            <a:off x="1323957" y="1505185"/>
            <a:ext cx="4285523" cy="369332"/>
          </a:xfrm>
          <a:prstGeom prst="rect">
            <a:avLst/>
          </a:prstGeom>
          <a:noFill/>
        </p:spPr>
        <p:txBody>
          <a:bodyPr wrap="square">
            <a:spAutoFit/>
          </a:bodyPr>
          <a:lstStyle/>
          <a:p>
            <a:pPr algn="ctr"/>
            <a:r>
              <a:rPr lang="en-US" b="1" dirty="0">
                <a:solidFill>
                  <a:srgbClr val="444D26"/>
                </a:solidFill>
              </a:rPr>
              <a:t>Naperstki.exe</a:t>
            </a:r>
            <a:endParaRPr lang="ru-RU" b="1" dirty="0">
              <a:solidFill>
                <a:srgbClr val="444D26"/>
              </a:solidFill>
            </a:endParaRPr>
          </a:p>
        </p:txBody>
      </p:sp>
      <p:sp>
        <p:nvSpPr>
          <p:cNvPr id="7" name="TextBox 6">
            <a:extLst>
              <a:ext uri="{FF2B5EF4-FFF2-40B4-BE49-F238E27FC236}">
                <a16:creationId xmlns:a16="http://schemas.microsoft.com/office/drawing/2014/main" id="{0EEE0128-0389-95EE-E782-8D7EB43E0D87}"/>
              </a:ext>
            </a:extLst>
          </p:cNvPr>
          <p:cNvSpPr txBox="1"/>
          <p:nvPr/>
        </p:nvSpPr>
        <p:spPr>
          <a:xfrm>
            <a:off x="8490928" y="1505185"/>
            <a:ext cx="2902496" cy="369332"/>
          </a:xfrm>
          <a:prstGeom prst="rect">
            <a:avLst/>
          </a:prstGeom>
          <a:noFill/>
        </p:spPr>
        <p:txBody>
          <a:bodyPr wrap="square">
            <a:spAutoFit/>
          </a:bodyPr>
          <a:lstStyle/>
          <a:p>
            <a:pPr algn="ctr"/>
            <a:r>
              <a:rPr lang="en-US" b="1" dirty="0">
                <a:solidFill>
                  <a:srgbClr val="444D26"/>
                </a:solidFill>
              </a:rPr>
              <a:t>Ball.exe</a:t>
            </a:r>
            <a:endParaRPr lang="ru-RU" b="1" dirty="0">
              <a:solidFill>
                <a:srgbClr val="444D26"/>
              </a:solidFill>
            </a:endParaRPr>
          </a:p>
        </p:txBody>
      </p:sp>
      <p:sp>
        <p:nvSpPr>
          <p:cNvPr id="9" name="TextBox 8">
            <a:extLst>
              <a:ext uri="{FF2B5EF4-FFF2-40B4-BE49-F238E27FC236}">
                <a16:creationId xmlns:a16="http://schemas.microsoft.com/office/drawing/2014/main" id="{AAFCC0CE-B599-F413-2E3F-4D080362547F}"/>
              </a:ext>
            </a:extLst>
          </p:cNvPr>
          <p:cNvSpPr txBox="1"/>
          <p:nvPr/>
        </p:nvSpPr>
        <p:spPr>
          <a:xfrm>
            <a:off x="5500625" y="1929320"/>
            <a:ext cx="2605313" cy="3785652"/>
          </a:xfrm>
          <a:prstGeom prst="rect">
            <a:avLst/>
          </a:prstGeom>
          <a:noFill/>
        </p:spPr>
        <p:txBody>
          <a:bodyPr wrap="square" rtlCol="0">
            <a:spAutoFit/>
          </a:bodyPr>
          <a:lstStyle/>
          <a:p>
            <a:pPr marL="285750" indent="-285750">
              <a:buFont typeface="Arial" panose="020B0604020202020204" pitchFamily="34" charset="0"/>
              <a:buChar char="•"/>
            </a:pPr>
            <a:r>
              <a:rPr lang="ru-RU" sz="1600" dirty="0">
                <a:solidFill>
                  <a:schemeClr val="tx1">
                    <a:lumMod val="65000"/>
                    <a:lumOff val="35000"/>
                  </a:schemeClr>
                </a:solidFill>
              </a:rPr>
              <a:t>Визуальное представление напёрстков. 3 экземпляра.</a:t>
            </a:r>
          </a:p>
          <a:p>
            <a:pPr marL="285750" indent="-285750">
              <a:buFont typeface="Arial" panose="020B0604020202020204" pitchFamily="34" charset="0"/>
              <a:buChar char="•"/>
            </a:pPr>
            <a:r>
              <a:rPr lang="ru-RU" sz="1600" dirty="0">
                <a:solidFill>
                  <a:schemeClr val="tx1">
                    <a:lumMod val="65000"/>
                    <a:lumOff val="35000"/>
                  </a:schemeClr>
                </a:solidFill>
              </a:rPr>
              <a:t>Каждое приложение создаёт собственное окно с заголовком "Naperstki_1« и </a:t>
            </a:r>
            <a:r>
              <a:rPr lang="ru-RU" sz="1600" dirty="0" err="1">
                <a:solidFill>
                  <a:schemeClr val="tx1">
                    <a:lumMod val="65000"/>
                    <a:lumOff val="35000"/>
                  </a:schemeClr>
                </a:solidFill>
              </a:rPr>
              <a:t>тд</a:t>
            </a:r>
            <a:r>
              <a:rPr lang="ru-RU" sz="1600" dirty="0">
                <a:solidFill>
                  <a:schemeClr val="tx1">
                    <a:lumMod val="65000"/>
                    <a:lumOff val="35000"/>
                  </a:schemeClr>
                </a:solidFill>
              </a:rPr>
              <a:t>.</a:t>
            </a:r>
          </a:p>
          <a:p>
            <a:pPr marL="285750" indent="-285750">
              <a:buFont typeface="Arial" panose="020B0604020202020204" pitchFamily="34" charset="0"/>
              <a:buChar char="•"/>
            </a:pPr>
            <a:r>
              <a:rPr lang="ru-RU" sz="1600" dirty="0">
                <a:solidFill>
                  <a:schemeClr val="tx1">
                    <a:lumMod val="65000"/>
                    <a:lumOff val="35000"/>
                  </a:schemeClr>
                </a:solidFill>
              </a:rPr>
              <a:t>После создания окна процесс устанавливает событие (GlassReadyEvent_1 и </a:t>
            </a:r>
            <a:r>
              <a:rPr lang="ru-RU" sz="1600" dirty="0" err="1">
                <a:solidFill>
                  <a:schemeClr val="tx1">
                    <a:lumMod val="65000"/>
                    <a:lumOff val="35000"/>
                  </a:schemeClr>
                </a:solidFill>
              </a:rPr>
              <a:t>тд</a:t>
            </a:r>
            <a:r>
              <a:rPr lang="ru-RU" sz="1600" dirty="0">
                <a:solidFill>
                  <a:schemeClr val="tx1">
                    <a:lumMod val="65000"/>
                    <a:lumOff val="35000"/>
                  </a:schemeClr>
                </a:solidFill>
              </a:rPr>
              <a:t>), чтобы главный процесс узнал, что можно продолжать.</a:t>
            </a:r>
          </a:p>
        </p:txBody>
      </p:sp>
      <p:sp>
        <p:nvSpPr>
          <p:cNvPr id="10" name="TextBox 9">
            <a:extLst>
              <a:ext uri="{FF2B5EF4-FFF2-40B4-BE49-F238E27FC236}">
                <a16:creationId xmlns:a16="http://schemas.microsoft.com/office/drawing/2014/main" id="{AD8E811A-C0DE-8C72-CB03-D213505A98BE}"/>
              </a:ext>
            </a:extLst>
          </p:cNvPr>
          <p:cNvSpPr txBox="1"/>
          <p:nvPr/>
        </p:nvSpPr>
        <p:spPr>
          <a:xfrm>
            <a:off x="5693120" y="1505185"/>
            <a:ext cx="2605313" cy="369332"/>
          </a:xfrm>
          <a:prstGeom prst="rect">
            <a:avLst/>
          </a:prstGeom>
          <a:noFill/>
        </p:spPr>
        <p:txBody>
          <a:bodyPr wrap="square">
            <a:spAutoFit/>
          </a:bodyPr>
          <a:lstStyle/>
          <a:p>
            <a:pPr algn="ctr"/>
            <a:r>
              <a:rPr lang="en-US" b="1" dirty="0">
                <a:solidFill>
                  <a:srgbClr val="444D26"/>
                </a:solidFill>
              </a:rPr>
              <a:t>Glass.exe</a:t>
            </a:r>
            <a:endParaRPr lang="ru-RU" b="1" dirty="0">
              <a:solidFill>
                <a:srgbClr val="444D26"/>
              </a:solidFill>
            </a:endParaRPr>
          </a:p>
        </p:txBody>
      </p:sp>
      <p:sp>
        <p:nvSpPr>
          <p:cNvPr id="11" name="TextBox 10">
            <a:extLst>
              <a:ext uri="{FF2B5EF4-FFF2-40B4-BE49-F238E27FC236}">
                <a16:creationId xmlns:a16="http://schemas.microsoft.com/office/drawing/2014/main" id="{B3FD14B2-A66B-5871-DDF6-43F59236E2B5}"/>
              </a:ext>
            </a:extLst>
          </p:cNvPr>
          <p:cNvSpPr txBox="1"/>
          <p:nvPr/>
        </p:nvSpPr>
        <p:spPr>
          <a:xfrm>
            <a:off x="8189578" y="1929320"/>
            <a:ext cx="3573960" cy="3693319"/>
          </a:xfrm>
          <a:prstGeom prst="rect">
            <a:avLst/>
          </a:prstGeom>
          <a:noFill/>
        </p:spPr>
        <p:txBody>
          <a:bodyPr wrap="square" rtlCol="0">
            <a:spAutoFit/>
          </a:bodyPr>
          <a:lstStyle/>
          <a:p>
            <a:pPr marL="285750" indent="-285750">
              <a:buFont typeface="Arial" panose="020B0604020202020204" pitchFamily="34" charset="0"/>
              <a:buChar char="•"/>
            </a:pPr>
            <a:r>
              <a:rPr lang="ru-RU" dirty="0">
                <a:solidFill>
                  <a:srgbClr val="444D26"/>
                </a:solidFill>
              </a:rPr>
              <a:t>Создаёт окно с заголовком "</a:t>
            </a:r>
            <a:r>
              <a:rPr lang="ru-RU" dirty="0" err="1">
                <a:solidFill>
                  <a:srgbClr val="444D26"/>
                </a:solidFill>
              </a:rPr>
              <a:t>Ball</a:t>
            </a:r>
            <a:r>
              <a:rPr lang="ru-RU" dirty="0">
                <a:solidFill>
                  <a:srgbClr val="444D26"/>
                </a:solidFill>
              </a:rPr>
              <a:t>". Устанавливает событие </a:t>
            </a:r>
            <a:r>
              <a:rPr lang="ru-RU" dirty="0" err="1">
                <a:solidFill>
                  <a:srgbClr val="444D26"/>
                </a:solidFill>
              </a:rPr>
              <a:t>BallReadyEvent</a:t>
            </a:r>
            <a:r>
              <a:rPr lang="ru-RU" dirty="0">
                <a:solidFill>
                  <a:srgbClr val="444D26"/>
                </a:solidFill>
              </a:rPr>
              <a:t>, что сигнализирует о готовности.</a:t>
            </a:r>
          </a:p>
          <a:p>
            <a:pPr marL="285750" indent="-285750">
              <a:buFont typeface="Arial" panose="020B0604020202020204" pitchFamily="34" charset="0"/>
              <a:buChar char="•"/>
            </a:pPr>
            <a:r>
              <a:rPr lang="ru-RU" dirty="0">
                <a:solidFill>
                  <a:srgbClr val="444D26"/>
                </a:solidFill>
              </a:rPr>
              <a:t>Главный процесс вычисляет координаты стакана, под которым находится мяч, и перемещает окно мяча вместе с ним.</a:t>
            </a:r>
          </a:p>
          <a:p>
            <a:pPr marL="285750" indent="-285750">
              <a:buFont typeface="Arial" panose="020B0604020202020204" pitchFamily="34" charset="0"/>
              <a:buChar char="•"/>
            </a:pPr>
            <a:r>
              <a:rPr lang="ru-RU" dirty="0">
                <a:solidFill>
                  <a:srgbClr val="444D26"/>
                </a:solidFill>
              </a:rPr>
              <a:t>Помещает его на задний план (HWND_BOTTOM), чтобы стаканы могли перекрывать его.</a:t>
            </a:r>
          </a:p>
        </p:txBody>
      </p:sp>
    </p:spTree>
    <p:extLst>
      <p:ext uri="{BB962C8B-B14F-4D97-AF65-F5344CB8AC3E}">
        <p14:creationId xmlns:p14="http://schemas.microsoft.com/office/powerpoint/2010/main" val="2515433732"/>
      </p:ext>
    </p:extLst>
  </p:cSld>
  <p:clrMapOvr>
    <a:masterClrMapping/>
  </p:clrMapOvr>
  <mc:AlternateContent xmlns:mc="http://schemas.openxmlformats.org/markup-compatibility/2006" xmlns:p14="http://schemas.microsoft.com/office/powerpoint/2010/main">
    <mc:Choice Requires="p14">
      <p:transition spd="slow" p14:dur="2000" advTm="2575"/>
    </mc:Choice>
    <mc:Fallback xmlns="">
      <p:transition spd="slow" advTm="257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B05729-E333-2883-CCAC-7A42E8AF9F60}"/>
              </a:ext>
            </a:extLst>
          </p:cNvPr>
          <p:cNvSpPr>
            <a:spLocks noGrp="1"/>
          </p:cNvSpPr>
          <p:nvPr>
            <p:ph type="title"/>
          </p:nvPr>
        </p:nvSpPr>
        <p:spPr/>
        <p:txBody>
          <a:bodyPr>
            <a:normAutofit fontScale="90000"/>
          </a:bodyPr>
          <a:lstStyle/>
          <a:p>
            <a:r>
              <a:rPr lang="ru-RU" b="1" dirty="0"/>
              <a:t>Какие команды мы использовали для работы с процессами</a:t>
            </a:r>
          </a:p>
        </p:txBody>
      </p:sp>
      <p:sp>
        <p:nvSpPr>
          <p:cNvPr id="3" name="Текст 2">
            <a:extLst>
              <a:ext uri="{FF2B5EF4-FFF2-40B4-BE49-F238E27FC236}">
                <a16:creationId xmlns:a16="http://schemas.microsoft.com/office/drawing/2014/main" id="{EF20EA96-9065-D8D9-B209-0B5EFAD7B97F}"/>
              </a:ext>
            </a:extLst>
          </p:cNvPr>
          <p:cNvSpPr>
            <a:spLocks noGrp="1"/>
          </p:cNvSpPr>
          <p:nvPr>
            <p:ph type="body" idx="1"/>
          </p:nvPr>
        </p:nvSpPr>
        <p:spPr>
          <a:xfrm>
            <a:off x="1252728" y="1883368"/>
            <a:ext cx="3116072" cy="632529"/>
          </a:xfrm>
        </p:spPr>
        <p:txBody>
          <a:bodyPr/>
          <a:lstStyle/>
          <a:p>
            <a:r>
              <a:rPr lang="en-US" dirty="0" err="1"/>
              <a:t>CreateProcessA</a:t>
            </a:r>
            <a:r>
              <a:rPr lang="ru-RU" dirty="0"/>
              <a:t> – Запуск процессов</a:t>
            </a:r>
          </a:p>
        </p:txBody>
      </p:sp>
      <p:sp>
        <p:nvSpPr>
          <p:cNvPr id="4" name="Объект 3">
            <a:extLst>
              <a:ext uri="{FF2B5EF4-FFF2-40B4-BE49-F238E27FC236}">
                <a16:creationId xmlns:a16="http://schemas.microsoft.com/office/drawing/2014/main" id="{C129A6FE-C1F8-C567-EB58-106DE32A2C3B}"/>
              </a:ext>
            </a:extLst>
          </p:cNvPr>
          <p:cNvSpPr>
            <a:spLocks noGrp="1"/>
          </p:cNvSpPr>
          <p:nvPr>
            <p:ph sz="half" idx="2"/>
          </p:nvPr>
        </p:nvSpPr>
        <p:spPr>
          <a:xfrm>
            <a:off x="1252728" y="2545506"/>
            <a:ext cx="3116072" cy="4312493"/>
          </a:xfrm>
        </p:spPr>
        <p:txBody>
          <a:bodyPr>
            <a:normAutofit fontScale="92500" lnSpcReduction="20000"/>
          </a:bodyPr>
          <a:lstStyle/>
          <a:p>
            <a:pPr marL="0" indent="0">
              <a:buNone/>
            </a:pPr>
            <a:r>
              <a:rPr lang="ru-RU" dirty="0"/>
              <a:t>Использовали эту функцию для запуска Glass.exe (3 раза) и Ball.exe (1 раз).</a:t>
            </a:r>
          </a:p>
          <a:p>
            <a:r>
              <a:rPr lang="ru-RU" b="1" dirty="0" err="1"/>
              <a:t>lpCommandLine</a:t>
            </a:r>
            <a:r>
              <a:rPr lang="ru-RU" dirty="0"/>
              <a:t>: Передавали путь к файлу чтобы процесс знал свой номер.</a:t>
            </a:r>
          </a:p>
          <a:p>
            <a:r>
              <a:rPr lang="ru-RU" b="1" dirty="0" err="1"/>
              <a:t>dwCreationFlags</a:t>
            </a:r>
            <a:r>
              <a:rPr lang="ru-RU" dirty="0"/>
              <a:t>: Установили флаг CREATE_NEW_CONSOLE, чтобы каждый процесс открывал своё собственное окно консоли.</a:t>
            </a:r>
          </a:p>
        </p:txBody>
      </p:sp>
      <p:sp>
        <p:nvSpPr>
          <p:cNvPr id="5" name="Текст 4">
            <a:extLst>
              <a:ext uri="{FF2B5EF4-FFF2-40B4-BE49-F238E27FC236}">
                <a16:creationId xmlns:a16="http://schemas.microsoft.com/office/drawing/2014/main" id="{E19D6659-9D26-6B9E-B0D5-5F82AE723B5E}"/>
              </a:ext>
            </a:extLst>
          </p:cNvPr>
          <p:cNvSpPr>
            <a:spLocks noGrp="1"/>
          </p:cNvSpPr>
          <p:nvPr>
            <p:ph type="body" sz="quarter" idx="3"/>
          </p:nvPr>
        </p:nvSpPr>
        <p:spPr>
          <a:xfrm>
            <a:off x="4572835" y="2276573"/>
            <a:ext cx="4800600" cy="632529"/>
          </a:xfrm>
        </p:spPr>
        <p:txBody>
          <a:bodyPr/>
          <a:lstStyle/>
          <a:p>
            <a:r>
              <a:rPr lang="en-US" dirty="0"/>
              <a:t>PROCESS_INFORMATION</a:t>
            </a:r>
            <a:r>
              <a:rPr lang="ru-RU" dirty="0"/>
              <a:t> - структура, куда Windows возвращает данные о запущенном процессе.</a:t>
            </a:r>
          </a:p>
        </p:txBody>
      </p:sp>
      <p:sp>
        <p:nvSpPr>
          <p:cNvPr id="6" name="Объект 5">
            <a:extLst>
              <a:ext uri="{FF2B5EF4-FFF2-40B4-BE49-F238E27FC236}">
                <a16:creationId xmlns:a16="http://schemas.microsoft.com/office/drawing/2014/main" id="{885A59B9-3C3C-5DFE-BEAD-141E1B19C4AF}"/>
              </a:ext>
            </a:extLst>
          </p:cNvPr>
          <p:cNvSpPr>
            <a:spLocks noGrp="1"/>
          </p:cNvSpPr>
          <p:nvPr>
            <p:ph sz="quarter" idx="4"/>
          </p:nvPr>
        </p:nvSpPr>
        <p:spPr>
          <a:xfrm>
            <a:off x="4572835" y="3025217"/>
            <a:ext cx="3671279" cy="1198440"/>
          </a:xfrm>
        </p:spPr>
        <p:txBody>
          <a:bodyPr>
            <a:normAutofit fontScale="92500" lnSpcReduction="20000"/>
          </a:bodyPr>
          <a:lstStyle/>
          <a:p>
            <a:pPr marL="0" indent="0">
              <a:buNone/>
            </a:pPr>
            <a:r>
              <a:rPr lang="ru-RU" dirty="0"/>
              <a:t>Мы сохраняли дескриптор процесса и </a:t>
            </a:r>
            <a:r>
              <a:rPr lang="ru-RU" dirty="0" err="1"/>
              <a:t>дескрипт</a:t>
            </a:r>
            <a:r>
              <a:rPr lang="ru-RU" dirty="0"/>
              <a:t> главного потока, чтобы потом корректно закрыть их и ждать завершения.</a:t>
            </a:r>
          </a:p>
          <a:p>
            <a:endParaRPr lang="ru-RU" dirty="0"/>
          </a:p>
        </p:txBody>
      </p:sp>
      <p:sp>
        <p:nvSpPr>
          <p:cNvPr id="10" name="TextBox 9">
            <a:extLst>
              <a:ext uri="{FF2B5EF4-FFF2-40B4-BE49-F238E27FC236}">
                <a16:creationId xmlns:a16="http://schemas.microsoft.com/office/drawing/2014/main" id="{7D8429FE-8570-6824-AED5-5FC64EBB31BA}"/>
              </a:ext>
            </a:extLst>
          </p:cNvPr>
          <p:cNvSpPr txBox="1"/>
          <p:nvPr/>
        </p:nvSpPr>
        <p:spPr>
          <a:xfrm>
            <a:off x="4845525" y="4440498"/>
            <a:ext cx="3007777" cy="384721"/>
          </a:xfrm>
          <a:prstGeom prst="rect">
            <a:avLst/>
          </a:prstGeom>
          <a:noFill/>
        </p:spPr>
        <p:txBody>
          <a:bodyPr wrap="square">
            <a:spAutoFit/>
          </a:bodyPr>
          <a:lstStyle/>
          <a:p>
            <a:r>
              <a:rPr lang="en-US" sz="1900" b="1" dirty="0" err="1">
                <a:solidFill>
                  <a:srgbClr val="444D26"/>
                </a:solidFill>
              </a:rPr>
              <a:t>WaitForMultipleObjects</a:t>
            </a:r>
            <a:endParaRPr lang="ru-RU" sz="1900" b="1" dirty="0">
              <a:solidFill>
                <a:srgbClr val="444D26"/>
              </a:solidFill>
            </a:endParaRPr>
          </a:p>
        </p:txBody>
      </p:sp>
      <p:sp>
        <p:nvSpPr>
          <p:cNvPr id="11" name="Объект 5">
            <a:extLst>
              <a:ext uri="{FF2B5EF4-FFF2-40B4-BE49-F238E27FC236}">
                <a16:creationId xmlns:a16="http://schemas.microsoft.com/office/drawing/2014/main" id="{2529E59C-33A5-42C7-5BB6-0D8109860F9A}"/>
              </a:ext>
            </a:extLst>
          </p:cNvPr>
          <p:cNvSpPr txBox="1">
            <a:spLocks/>
          </p:cNvSpPr>
          <p:nvPr/>
        </p:nvSpPr>
        <p:spPr>
          <a:xfrm>
            <a:off x="4891927" y="4825219"/>
            <a:ext cx="3671279" cy="1651781"/>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buNone/>
            </a:pPr>
            <a:r>
              <a:rPr lang="ru-RU" dirty="0"/>
              <a:t>Передавали массив дескрипторов событий (</a:t>
            </a:r>
            <a:r>
              <a:rPr lang="ru-RU" dirty="0" err="1"/>
              <a:t>hEvents</a:t>
            </a:r>
            <a:r>
              <a:rPr lang="ru-RU" dirty="0"/>
              <a:t>). Флаг </a:t>
            </a:r>
            <a:r>
              <a:rPr lang="ru-RU" dirty="0" err="1"/>
              <a:t>bWaitAll</a:t>
            </a:r>
            <a:r>
              <a:rPr lang="ru-RU" dirty="0"/>
              <a:t> = TRUE заставлял главный процесс ждать, пока все дочерние процессы не создадут окна и не сообщат о готовности.</a:t>
            </a:r>
          </a:p>
        </p:txBody>
      </p:sp>
      <p:sp>
        <p:nvSpPr>
          <p:cNvPr id="12" name="TextBox 11">
            <a:extLst>
              <a:ext uri="{FF2B5EF4-FFF2-40B4-BE49-F238E27FC236}">
                <a16:creationId xmlns:a16="http://schemas.microsoft.com/office/drawing/2014/main" id="{43F850DA-93F4-FFB9-4640-F80822EACC55}"/>
              </a:ext>
            </a:extLst>
          </p:cNvPr>
          <p:cNvSpPr txBox="1"/>
          <p:nvPr/>
        </p:nvSpPr>
        <p:spPr>
          <a:xfrm>
            <a:off x="8622459" y="1891852"/>
            <a:ext cx="2887508" cy="384721"/>
          </a:xfrm>
          <a:prstGeom prst="rect">
            <a:avLst/>
          </a:prstGeom>
          <a:noFill/>
        </p:spPr>
        <p:txBody>
          <a:bodyPr wrap="square">
            <a:spAutoFit/>
          </a:bodyPr>
          <a:lstStyle/>
          <a:p>
            <a:r>
              <a:rPr lang="en-US" sz="1900" b="1" dirty="0" err="1">
                <a:solidFill>
                  <a:srgbClr val="444D26"/>
                </a:solidFill>
              </a:rPr>
              <a:t>CloseHandle</a:t>
            </a:r>
            <a:endParaRPr lang="ru-RU" sz="1900" b="1" dirty="0">
              <a:solidFill>
                <a:srgbClr val="444D26"/>
              </a:solidFill>
            </a:endParaRPr>
          </a:p>
        </p:txBody>
      </p:sp>
      <p:sp>
        <p:nvSpPr>
          <p:cNvPr id="14" name="Объект 5">
            <a:extLst>
              <a:ext uri="{FF2B5EF4-FFF2-40B4-BE49-F238E27FC236}">
                <a16:creationId xmlns:a16="http://schemas.microsoft.com/office/drawing/2014/main" id="{4EBF7902-C1AB-F6FA-78E5-2F6A5BB00C1F}"/>
              </a:ext>
            </a:extLst>
          </p:cNvPr>
          <p:cNvSpPr txBox="1">
            <a:spLocks/>
          </p:cNvSpPr>
          <p:nvPr/>
        </p:nvSpPr>
        <p:spPr>
          <a:xfrm>
            <a:off x="8622459" y="2319562"/>
            <a:ext cx="3384657" cy="1651781"/>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buNone/>
            </a:pPr>
            <a:r>
              <a:rPr lang="ru-RU" dirty="0"/>
              <a:t>После завершения работы мы закрыли дескрипторы </a:t>
            </a:r>
            <a:r>
              <a:rPr lang="ru-RU" dirty="0" err="1"/>
              <a:t>hProcess</a:t>
            </a:r>
            <a:r>
              <a:rPr lang="ru-RU" dirty="0"/>
              <a:t> и </a:t>
            </a:r>
            <a:r>
              <a:rPr lang="ru-RU" dirty="0" err="1"/>
              <a:t>hThread</a:t>
            </a:r>
            <a:r>
              <a:rPr lang="ru-RU" dirty="0"/>
              <a:t> из структуры PROCESS_INFORMATION, чтобы освободить ресурсы.</a:t>
            </a:r>
          </a:p>
        </p:txBody>
      </p:sp>
      <mc:AlternateContent xmlns:mc="http://schemas.openxmlformats.org/markup-compatibility/2006" xmlns:p14="http://schemas.microsoft.com/office/powerpoint/2010/main">
        <mc:Choice Requires="p14">
          <p:contentPart p14:bwMode="auto" r:id="rId2">
            <p14:nvContentPartPr>
              <p14:cNvPr id="18" name="Рукописный ввод 17">
                <a:extLst>
                  <a:ext uri="{FF2B5EF4-FFF2-40B4-BE49-F238E27FC236}">
                    <a16:creationId xmlns:a16="http://schemas.microsoft.com/office/drawing/2014/main" id="{F000E0D4-64B1-3686-AA11-FFD3ABF60607}"/>
                  </a:ext>
                </a:extLst>
              </p14:cNvPr>
              <p14:cNvContentPartPr/>
              <p14:nvPr/>
            </p14:nvContentPartPr>
            <p14:xfrm>
              <a:off x="4542726" y="1726846"/>
              <a:ext cx="720" cy="4805280"/>
            </p14:xfrm>
          </p:contentPart>
        </mc:Choice>
        <mc:Fallback xmlns="">
          <p:pic>
            <p:nvPicPr>
              <p:cNvPr id="18" name="Рукописный ввод 17">
                <a:extLst>
                  <a:ext uri="{FF2B5EF4-FFF2-40B4-BE49-F238E27FC236}">
                    <a16:creationId xmlns:a16="http://schemas.microsoft.com/office/drawing/2014/main" id="{F000E0D4-64B1-3686-AA11-FFD3ABF60607}"/>
                  </a:ext>
                </a:extLst>
              </p:cNvPr>
              <p:cNvPicPr/>
              <p:nvPr/>
            </p:nvPicPr>
            <p:blipFill>
              <a:blip r:embed="rId3"/>
              <a:stretch>
                <a:fillRect/>
              </a:stretch>
            </p:blipFill>
            <p:spPr>
              <a:xfrm>
                <a:off x="4524726" y="1717846"/>
                <a:ext cx="36000" cy="4822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2" name="Рукописный ввод 21">
                <a:extLst>
                  <a:ext uri="{FF2B5EF4-FFF2-40B4-BE49-F238E27FC236}">
                    <a16:creationId xmlns:a16="http://schemas.microsoft.com/office/drawing/2014/main" id="{5D2006FD-3FCA-7F67-52FB-14E98EB6C8A2}"/>
                  </a:ext>
                </a:extLst>
              </p14:cNvPr>
              <p14:cNvContentPartPr/>
              <p14:nvPr/>
            </p14:nvContentPartPr>
            <p14:xfrm>
              <a:off x="4571886" y="4266646"/>
              <a:ext cx="3992760" cy="720"/>
            </p14:xfrm>
          </p:contentPart>
        </mc:Choice>
        <mc:Fallback xmlns="">
          <p:pic>
            <p:nvPicPr>
              <p:cNvPr id="22" name="Рукописный ввод 21">
                <a:extLst>
                  <a:ext uri="{FF2B5EF4-FFF2-40B4-BE49-F238E27FC236}">
                    <a16:creationId xmlns:a16="http://schemas.microsoft.com/office/drawing/2014/main" id="{5D2006FD-3FCA-7F67-52FB-14E98EB6C8A2}"/>
                  </a:ext>
                </a:extLst>
              </p:cNvPr>
              <p:cNvPicPr/>
              <p:nvPr/>
            </p:nvPicPr>
            <p:blipFill>
              <a:blip r:embed="rId5"/>
              <a:stretch>
                <a:fillRect/>
              </a:stretch>
            </p:blipFill>
            <p:spPr>
              <a:xfrm>
                <a:off x="4565766" y="4254406"/>
                <a:ext cx="40050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5" name="Рукописный ввод 24">
                <a:extLst>
                  <a:ext uri="{FF2B5EF4-FFF2-40B4-BE49-F238E27FC236}">
                    <a16:creationId xmlns:a16="http://schemas.microsoft.com/office/drawing/2014/main" id="{C2E93083-8507-7214-1FE0-AB1B686A5896}"/>
                  </a:ext>
                </a:extLst>
              </p14:cNvPr>
              <p14:cNvContentPartPr/>
              <p14:nvPr/>
            </p14:nvContentPartPr>
            <p14:xfrm>
              <a:off x="8563206" y="1668166"/>
              <a:ext cx="720" cy="2584800"/>
            </p14:xfrm>
          </p:contentPart>
        </mc:Choice>
        <mc:Fallback xmlns="">
          <p:pic>
            <p:nvPicPr>
              <p:cNvPr id="25" name="Рукописный ввод 24">
                <a:extLst>
                  <a:ext uri="{FF2B5EF4-FFF2-40B4-BE49-F238E27FC236}">
                    <a16:creationId xmlns:a16="http://schemas.microsoft.com/office/drawing/2014/main" id="{C2E93083-8507-7214-1FE0-AB1B686A5896}"/>
                  </a:ext>
                </a:extLst>
              </p:cNvPr>
              <p:cNvPicPr/>
              <p:nvPr/>
            </p:nvPicPr>
            <p:blipFill>
              <a:blip r:embed="rId7"/>
              <a:stretch>
                <a:fillRect/>
              </a:stretch>
            </p:blipFill>
            <p:spPr>
              <a:xfrm>
                <a:off x="8550966" y="1662046"/>
                <a:ext cx="25200" cy="2597040"/>
              </a:xfrm>
              <a:prstGeom prst="rect">
                <a:avLst/>
              </a:prstGeom>
            </p:spPr>
          </p:pic>
        </mc:Fallback>
      </mc:AlternateContent>
    </p:spTree>
    <p:extLst>
      <p:ext uri="{BB962C8B-B14F-4D97-AF65-F5344CB8AC3E}">
        <p14:creationId xmlns:p14="http://schemas.microsoft.com/office/powerpoint/2010/main" val="3460483737"/>
      </p:ext>
    </p:extLst>
  </p:cSld>
  <p:clrMapOvr>
    <a:masterClrMapping/>
  </p:clrMapOvr>
  <mc:AlternateContent xmlns:mc="http://schemas.openxmlformats.org/markup-compatibility/2006" xmlns:p14="http://schemas.microsoft.com/office/powerpoint/2010/main">
    <mc:Choice Requires="p14">
      <p:transition spd="slow" p14:dur="2000" advTm="2482"/>
    </mc:Choice>
    <mc:Fallback xmlns="">
      <p:transition spd="slow" advTm="248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0EA1-BA0D-CFB2-AB72-7A520B6C78B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5D6A6E-C990-6733-04A4-BB805C177533}"/>
              </a:ext>
            </a:extLst>
          </p:cNvPr>
          <p:cNvSpPr>
            <a:spLocks noGrp="1"/>
          </p:cNvSpPr>
          <p:nvPr>
            <p:ph type="title"/>
          </p:nvPr>
        </p:nvSpPr>
        <p:spPr/>
        <p:txBody>
          <a:bodyPr>
            <a:normAutofit fontScale="90000"/>
          </a:bodyPr>
          <a:lstStyle/>
          <a:p>
            <a:r>
              <a:rPr lang="ru-RU" b="1" dirty="0"/>
              <a:t>Какие команды мы использовали для работы с событиями</a:t>
            </a:r>
          </a:p>
        </p:txBody>
      </p:sp>
      <p:sp>
        <p:nvSpPr>
          <p:cNvPr id="3" name="Текст 2">
            <a:extLst>
              <a:ext uri="{FF2B5EF4-FFF2-40B4-BE49-F238E27FC236}">
                <a16:creationId xmlns:a16="http://schemas.microsoft.com/office/drawing/2014/main" id="{3223639B-002D-9919-754C-82DA93296792}"/>
              </a:ext>
            </a:extLst>
          </p:cNvPr>
          <p:cNvSpPr>
            <a:spLocks noGrp="1"/>
          </p:cNvSpPr>
          <p:nvPr>
            <p:ph type="body" idx="1"/>
          </p:nvPr>
        </p:nvSpPr>
        <p:spPr>
          <a:xfrm>
            <a:off x="1252728" y="2131176"/>
            <a:ext cx="2686050" cy="384721"/>
          </a:xfrm>
        </p:spPr>
        <p:txBody>
          <a:bodyPr/>
          <a:lstStyle/>
          <a:p>
            <a:r>
              <a:rPr lang="en-US" dirty="0" err="1"/>
              <a:t>CreateEventA</a:t>
            </a:r>
            <a:endParaRPr lang="ru-RU" dirty="0"/>
          </a:p>
        </p:txBody>
      </p:sp>
      <p:sp>
        <p:nvSpPr>
          <p:cNvPr id="4" name="Объект 3">
            <a:extLst>
              <a:ext uri="{FF2B5EF4-FFF2-40B4-BE49-F238E27FC236}">
                <a16:creationId xmlns:a16="http://schemas.microsoft.com/office/drawing/2014/main" id="{79BB27B7-51E6-64A9-E5C3-5E0D3A796C33}"/>
              </a:ext>
            </a:extLst>
          </p:cNvPr>
          <p:cNvSpPr>
            <a:spLocks noGrp="1"/>
          </p:cNvSpPr>
          <p:nvPr>
            <p:ph sz="half" idx="2"/>
          </p:nvPr>
        </p:nvSpPr>
        <p:spPr>
          <a:xfrm>
            <a:off x="1252728" y="2545506"/>
            <a:ext cx="2686050" cy="3931494"/>
          </a:xfrm>
        </p:spPr>
        <p:txBody>
          <a:bodyPr>
            <a:normAutofit/>
          </a:bodyPr>
          <a:lstStyle/>
          <a:p>
            <a:pPr marL="0" indent="0">
              <a:buNone/>
            </a:pPr>
            <a:r>
              <a:rPr lang="ru-RU" dirty="0"/>
              <a:t>Мы создали 4 события (</a:t>
            </a:r>
            <a:r>
              <a:rPr lang="ru-RU" dirty="0" err="1"/>
              <a:t>BallReadyEvent</a:t>
            </a:r>
            <a:r>
              <a:rPr lang="ru-RU" dirty="0"/>
              <a:t>, </a:t>
            </a:r>
            <a:r>
              <a:rPr lang="ru-RU" dirty="0" err="1"/>
              <a:t>GlassReadyEvent</a:t>
            </a:r>
            <a:r>
              <a:rPr lang="ru-RU" dirty="0"/>
              <a:t>). Изначально они были выключены. Дочерние процессы должны были их включить, когда окно создастся.</a:t>
            </a:r>
          </a:p>
        </p:txBody>
      </p:sp>
      <p:sp>
        <p:nvSpPr>
          <p:cNvPr id="5" name="Текст 4">
            <a:extLst>
              <a:ext uri="{FF2B5EF4-FFF2-40B4-BE49-F238E27FC236}">
                <a16:creationId xmlns:a16="http://schemas.microsoft.com/office/drawing/2014/main" id="{CEED9620-87E5-391B-AEA2-55B53F1A8053}"/>
              </a:ext>
            </a:extLst>
          </p:cNvPr>
          <p:cNvSpPr>
            <a:spLocks noGrp="1"/>
          </p:cNvSpPr>
          <p:nvPr>
            <p:ph type="body" sz="quarter" idx="3"/>
          </p:nvPr>
        </p:nvSpPr>
        <p:spPr>
          <a:xfrm>
            <a:off x="3938777" y="2032781"/>
            <a:ext cx="4450479" cy="471155"/>
          </a:xfrm>
        </p:spPr>
        <p:txBody>
          <a:bodyPr/>
          <a:lstStyle/>
          <a:p>
            <a:r>
              <a:rPr lang="en-US" dirty="0" err="1"/>
              <a:t>WaitForMultipleObjects</a:t>
            </a:r>
            <a:endParaRPr lang="ru-RU" dirty="0"/>
          </a:p>
        </p:txBody>
      </p:sp>
      <p:sp>
        <p:nvSpPr>
          <p:cNvPr id="11" name="Объект 5">
            <a:extLst>
              <a:ext uri="{FF2B5EF4-FFF2-40B4-BE49-F238E27FC236}">
                <a16:creationId xmlns:a16="http://schemas.microsoft.com/office/drawing/2014/main" id="{1D76805B-7E75-4AA3-B4BA-AC45EE1E42A2}"/>
              </a:ext>
            </a:extLst>
          </p:cNvPr>
          <p:cNvSpPr txBox="1">
            <a:spLocks/>
          </p:cNvSpPr>
          <p:nvPr/>
        </p:nvSpPr>
        <p:spPr>
          <a:xfrm>
            <a:off x="4151923" y="2533545"/>
            <a:ext cx="3671279" cy="314154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buNone/>
            </a:pPr>
            <a:r>
              <a:rPr lang="ru-RU" dirty="0"/>
              <a:t>В начале </a:t>
            </a:r>
            <a:r>
              <a:rPr lang="ru-RU" dirty="0" err="1"/>
              <a:t>StartGame</a:t>
            </a:r>
            <a:r>
              <a:rPr lang="ru-RU" dirty="0"/>
              <a:t> мы передали сюда массив дескрипторов событий (</a:t>
            </a:r>
            <a:r>
              <a:rPr lang="ru-RU" dirty="0" err="1"/>
              <a:t>hEvents</a:t>
            </a:r>
            <a:r>
              <a:rPr lang="ru-RU" dirty="0"/>
              <a:t>). Главный процесс ждал, пока все</a:t>
            </a:r>
            <a:r>
              <a:rPr lang="ru-RU" b="1" dirty="0"/>
              <a:t> </a:t>
            </a:r>
            <a:r>
              <a:rPr lang="ru-RU" dirty="0"/>
              <a:t>события не станут активными.</a:t>
            </a:r>
          </a:p>
        </p:txBody>
      </p:sp>
      <p:sp>
        <p:nvSpPr>
          <p:cNvPr id="12" name="TextBox 11">
            <a:extLst>
              <a:ext uri="{FF2B5EF4-FFF2-40B4-BE49-F238E27FC236}">
                <a16:creationId xmlns:a16="http://schemas.microsoft.com/office/drawing/2014/main" id="{626CECE1-0118-0EF0-595E-93760E75A326}"/>
              </a:ext>
            </a:extLst>
          </p:cNvPr>
          <p:cNvSpPr txBox="1"/>
          <p:nvPr/>
        </p:nvSpPr>
        <p:spPr>
          <a:xfrm>
            <a:off x="8520859" y="2075997"/>
            <a:ext cx="2887508" cy="384721"/>
          </a:xfrm>
          <a:prstGeom prst="rect">
            <a:avLst/>
          </a:prstGeom>
          <a:noFill/>
        </p:spPr>
        <p:txBody>
          <a:bodyPr wrap="square">
            <a:spAutoFit/>
          </a:bodyPr>
          <a:lstStyle/>
          <a:p>
            <a:r>
              <a:rPr lang="en-US" sz="1900" b="1" dirty="0" err="1">
                <a:solidFill>
                  <a:srgbClr val="444D26"/>
                </a:solidFill>
              </a:rPr>
              <a:t>CloseHandle</a:t>
            </a:r>
            <a:endParaRPr lang="ru-RU" sz="1900" b="1" dirty="0">
              <a:solidFill>
                <a:srgbClr val="444D26"/>
              </a:solidFill>
            </a:endParaRPr>
          </a:p>
        </p:txBody>
      </p:sp>
      <p:sp>
        <p:nvSpPr>
          <p:cNvPr id="14" name="Объект 5">
            <a:extLst>
              <a:ext uri="{FF2B5EF4-FFF2-40B4-BE49-F238E27FC236}">
                <a16:creationId xmlns:a16="http://schemas.microsoft.com/office/drawing/2014/main" id="{2CA4C7AE-4F7B-00EE-3D92-3C97A21C9333}"/>
              </a:ext>
            </a:extLst>
          </p:cNvPr>
          <p:cNvSpPr txBox="1">
            <a:spLocks/>
          </p:cNvSpPr>
          <p:nvPr/>
        </p:nvSpPr>
        <p:spPr>
          <a:xfrm>
            <a:off x="8520860" y="2545506"/>
            <a:ext cx="2626112" cy="273769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buNone/>
            </a:pPr>
            <a:r>
              <a:rPr lang="ru-RU" dirty="0"/>
              <a:t>После того как мы дождались готовности окон, мы закрыли дескрипторы событий.</a:t>
            </a:r>
          </a:p>
        </p:txBody>
      </p:sp>
      <mc:AlternateContent xmlns:mc="http://schemas.openxmlformats.org/markup-compatibility/2006" xmlns:p14="http://schemas.microsoft.com/office/powerpoint/2010/main">
        <mc:Choice Requires="p14">
          <p:contentPart p14:bwMode="auto" r:id="rId2">
            <p14:nvContentPartPr>
              <p14:cNvPr id="23" name="Рукописный ввод 22">
                <a:extLst>
                  <a:ext uri="{FF2B5EF4-FFF2-40B4-BE49-F238E27FC236}">
                    <a16:creationId xmlns:a16="http://schemas.microsoft.com/office/drawing/2014/main" id="{918CCEBE-E11F-A65C-9B7A-3AF909847776}"/>
                  </a:ext>
                </a:extLst>
              </p14:cNvPr>
              <p14:cNvContentPartPr/>
              <p14:nvPr/>
            </p14:nvContentPartPr>
            <p14:xfrm>
              <a:off x="3947303" y="2234869"/>
              <a:ext cx="720" cy="4746960"/>
            </p14:xfrm>
          </p:contentPart>
        </mc:Choice>
        <mc:Fallback xmlns="">
          <p:pic>
            <p:nvPicPr>
              <p:cNvPr id="23" name="Рукописный ввод 22">
                <a:extLst>
                  <a:ext uri="{FF2B5EF4-FFF2-40B4-BE49-F238E27FC236}">
                    <a16:creationId xmlns:a16="http://schemas.microsoft.com/office/drawing/2014/main" id="{918CCEBE-E11F-A65C-9B7A-3AF909847776}"/>
                  </a:ext>
                </a:extLst>
              </p:cNvPr>
              <p:cNvPicPr/>
              <p:nvPr/>
            </p:nvPicPr>
            <p:blipFill>
              <a:blip r:embed="rId3"/>
              <a:stretch>
                <a:fillRect/>
              </a:stretch>
            </p:blipFill>
            <p:spPr>
              <a:xfrm>
                <a:off x="3935063" y="2228749"/>
                <a:ext cx="25200" cy="4759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6" name="Рукописный ввод 25">
                <a:extLst>
                  <a:ext uri="{FF2B5EF4-FFF2-40B4-BE49-F238E27FC236}">
                    <a16:creationId xmlns:a16="http://schemas.microsoft.com/office/drawing/2014/main" id="{5AA37487-7BFB-DADC-E311-C6293EB5A113}"/>
                  </a:ext>
                </a:extLst>
              </p14:cNvPr>
              <p14:cNvContentPartPr/>
              <p14:nvPr/>
            </p14:nvContentPartPr>
            <p14:xfrm>
              <a:off x="8461703" y="2191669"/>
              <a:ext cx="58680" cy="4935240"/>
            </p14:xfrm>
          </p:contentPart>
        </mc:Choice>
        <mc:Fallback xmlns="">
          <p:pic>
            <p:nvPicPr>
              <p:cNvPr id="26" name="Рукописный ввод 25">
                <a:extLst>
                  <a:ext uri="{FF2B5EF4-FFF2-40B4-BE49-F238E27FC236}">
                    <a16:creationId xmlns:a16="http://schemas.microsoft.com/office/drawing/2014/main" id="{5AA37487-7BFB-DADC-E311-C6293EB5A113}"/>
                  </a:ext>
                </a:extLst>
              </p:cNvPr>
              <p:cNvPicPr/>
              <p:nvPr/>
            </p:nvPicPr>
            <p:blipFill>
              <a:blip r:embed="rId5"/>
              <a:stretch>
                <a:fillRect/>
              </a:stretch>
            </p:blipFill>
            <p:spPr>
              <a:xfrm>
                <a:off x="8455583" y="2185549"/>
                <a:ext cx="70920" cy="4947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7" name="Рукописный ввод 26">
                <a:extLst>
                  <a:ext uri="{FF2B5EF4-FFF2-40B4-BE49-F238E27FC236}">
                    <a16:creationId xmlns:a16="http://schemas.microsoft.com/office/drawing/2014/main" id="{023DA490-FC97-7A14-B370-7C97108DF73C}"/>
                  </a:ext>
                </a:extLst>
              </p14:cNvPr>
              <p14:cNvContentPartPr/>
              <p14:nvPr/>
            </p14:nvContentPartPr>
            <p14:xfrm>
              <a:off x="9216623" y="7068589"/>
              <a:ext cx="360" cy="360"/>
            </p14:xfrm>
          </p:contentPart>
        </mc:Choice>
        <mc:Fallback xmlns="">
          <p:pic>
            <p:nvPicPr>
              <p:cNvPr id="27" name="Рукописный ввод 26">
                <a:extLst>
                  <a:ext uri="{FF2B5EF4-FFF2-40B4-BE49-F238E27FC236}">
                    <a16:creationId xmlns:a16="http://schemas.microsoft.com/office/drawing/2014/main" id="{023DA490-FC97-7A14-B370-7C97108DF73C}"/>
                  </a:ext>
                </a:extLst>
              </p:cNvPr>
              <p:cNvPicPr/>
              <p:nvPr/>
            </p:nvPicPr>
            <p:blipFill>
              <a:blip r:embed="rId7"/>
              <a:stretch>
                <a:fillRect/>
              </a:stretch>
            </p:blipFill>
            <p:spPr>
              <a:xfrm>
                <a:off x="9210503" y="7062469"/>
                <a:ext cx="12600" cy="12600"/>
              </a:xfrm>
              <a:prstGeom prst="rect">
                <a:avLst/>
              </a:prstGeom>
            </p:spPr>
          </p:pic>
        </mc:Fallback>
      </mc:AlternateContent>
    </p:spTree>
    <p:extLst>
      <p:ext uri="{BB962C8B-B14F-4D97-AF65-F5344CB8AC3E}">
        <p14:creationId xmlns:p14="http://schemas.microsoft.com/office/powerpoint/2010/main" val="3484140436"/>
      </p:ext>
    </p:extLst>
  </p:cSld>
  <p:clrMapOvr>
    <a:masterClrMapping/>
  </p:clrMapOvr>
  <mc:AlternateContent xmlns:mc="http://schemas.openxmlformats.org/markup-compatibility/2006" xmlns:p14="http://schemas.microsoft.com/office/powerpoint/2010/main">
    <mc:Choice Requires="p14">
      <p:transition spd="slow" p14:dur="2000" advTm="2019"/>
    </mc:Choice>
    <mc:Fallback xmlns="">
      <p:transition spd="slow" advTm="201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47FFE-6374-8766-8634-27D6C680F6B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C924E4-20B4-10F2-2F61-FBABD8AF9909}"/>
              </a:ext>
            </a:extLst>
          </p:cNvPr>
          <p:cNvSpPr>
            <a:spLocks noGrp="1"/>
          </p:cNvSpPr>
          <p:nvPr>
            <p:ph type="title"/>
          </p:nvPr>
        </p:nvSpPr>
        <p:spPr/>
        <p:txBody>
          <a:bodyPr>
            <a:normAutofit fontScale="90000"/>
          </a:bodyPr>
          <a:lstStyle/>
          <a:p>
            <a:r>
              <a:rPr lang="ru-RU" b="1" dirty="0"/>
              <a:t>Какие команды мы использовали для работы с Мьютексами</a:t>
            </a:r>
          </a:p>
        </p:txBody>
      </p:sp>
      <p:sp>
        <p:nvSpPr>
          <p:cNvPr id="3" name="Текст 2">
            <a:extLst>
              <a:ext uri="{FF2B5EF4-FFF2-40B4-BE49-F238E27FC236}">
                <a16:creationId xmlns:a16="http://schemas.microsoft.com/office/drawing/2014/main" id="{5275F94D-0699-96B5-7965-6DB056727564}"/>
              </a:ext>
            </a:extLst>
          </p:cNvPr>
          <p:cNvSpPr>
            <a:spLocks noGrp="1"/>
          </p:cNvSpPr>
          <p:nvPr>
            <p:ph type="body" idx="1"/>
          </p:nvPr>
        </p:nvSpPr>
        <p:spPr>
          <a:xfrm>
            <a:off x="2080042" y="2131176"/>
            <a:ext cx="2686050" cy="384721"/>
          </a:xfrm>
        </p:spPr>
        <p:txBody>
          <a:bodyPr/>
          <a:lstStyle/>
          <a:p>
            <a:r>
              <a:rPr lang="en-US" dirty="0" err="1"/>
              <a:t>CreateMutexA</a:t>
            </a:r>
            <a:endParaRPr lang="ru-RU" dirty="0"/>
          </a:p>
        </p:txBody>
      </p:sp>
      <p:sp>
        <p:nvSpPr>
          <p:cNvPr id="4" name="Объект 3">
            <a:extLst>
              <a:ext uri="{FF2B5EF4-FFF2-40B4-BE49-F238E27FC236}">
                <a16:creationId xmlns:a16="http://schemas.microsoft.com/office/drawing/2014/main" id="{8BB2B6F4-0417-9AFB-086B-7D3D3CEB0085}"/>
              </a:ext>
            </a:extLst>
          </p:cNvPr>
          <p:cNvSpPr>
            <a:spLocks noGrp="1"/>
          </p:cNvSpPr>
          <p:nvPr>
            <p:ph sz="half" idx="2"/>
          </p:nvPr>
        </p:nvSpPr>
        <p:spPr>
          <a:xfrm>
            <a:off x="2210671" y="2545506"/>
            <a:ext cx="2686050" cy="3849278"/>
          </a:xfrm>
        </p:spPr>
        <p:txBody>
          <a:bodyPr>
            <a:normAutofit/>
          </a:bodyPr>
          <a:lstStyle/>
          <a:p>
            <a:pPr marL="0" indent="0">
              <a:buNone/>
            </a:pPr>
            <a:r>
              <a:rPr lang="ru-RU" dirty="0"/>
              <a:t>В </a:t>
            </a:r>
            <a:r>
              <a:rPr lang="ru-RU" dirty="0" err="1"/>
              <a:t>main</a:t>
            </a:r>
            <a:r>
              <a:rPr lang="ru-RU" dirty="0"/>
              <a:t> мы создали мьютекс с именем "</a:t>
            </a:r>
            <a:r>
              <a:rPr lang="ru-RU" dirty="0" err="1"/>
              <a:t>Naperstki</a:t>
            </a:r>
            <a:r>
              <a:rPr lang="ru-RU" dirty="0"/>
              <a:t>". Если такая игра уже запущена, то мы не можем закрыть процесс и запустить новую игру при каком-либо случайном вводе.</a:t>
            </a:r>
          </a:p>
        </p:txBody>
      </p:sp>
      <p:sp>
        <p:nvSpPr>
          <p:cNvPr id="5" name="Текст 4">
            <a:extLst>
              <a:ext uri="{FF2B5EF4-FFF2-40B4-BE49-F238E27FC236}">
                <a16:creationId xmlns:a16="http://schemas.microsoft.com/office/drawing/2014/main" id="{38F8F2AE-1F7B-D169-6332-6413F78F8AA1}"/>
              </a:ext>
            </a:extLst>
          </p:cNvPr>
          <p:cNvSpPr>
            <a:spLocks noGrp="1"/>
          </p:cNvSpPr>
          <p:nvPr>
            <p:ph type="body" sz="quarter" idx="3"/>
          </p:nvPr>
        </p:nvSpPr>
        <p:spPr>
          <a:xfrm>
            <a:off x="7425910" y="2030067"/>
            <a:ext cx="4450479" cy="471155"/>
          </a:xfrm>
        </p:spPr>
        <p:txBody>
          <a:bodyPr/>
          <a:lstStyle/>
          <a:p>
            <a:r>
              <a:rPr lang="en-US" dirty="0" err="1"/>
              <a:t>ReleaseMutex</a:t>
            </a:r>
            <a:endParaRPr lang="ru-RU" dirty="0"/>
          </a:p>
        </p:txBody>
      </p:sp>
      <p:sp>
        <p:nvSpPr>
          <p:cNvPr id="11" name="Объект 5">
            <a:extLst>
              <a:ext uri="{FF2B5EF4-FFF2-40B4-BE49-F238E27FC236}">
                <a16:creationId xmlns:a16="http://schemas.microsoft.com/office/drawing/2014/main" id="{11F18A2F-FED3-A7B5-BCD9-5AC8296FD5C0}"/>
              </a:ext>
            </a:extLst>
          </p:cNvPr>
          <p:cNvSpPr txBox="1">
            <a:spLocks/>
          </p:cNvSpPr>
          <p:nvPr/>
        </p:nvSpPr>
        <p:spPr>
          <a:xfrm>
            <a:off x="7027150" y="2501222"/>
            <a:ext cx="3671279" cy="3550662"/>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buNone/>
            </a:pPr>
            <a:r>
              <a:rPr lang="ru-RU" sz="1800" dirty="0"/>
              <a:t>По окончании игры мы вызываем </a:t>
            </a:r>
            <a:r>
              <a:rPr lang="ru-RU" sz="1800" dirty="0" err="1"/>
              <a:t>ReleaseMutex</a:t>
            </a:r>
            <a:r>
              <a:rPr lang="ru-RU" sz="1800" dirty="0"/>
              <a:t>, чтобы освободить мьютекс. Это даёт возможность запустить игру заново. Кроме того, при закрытии главного окна операционная система автоматически закрывает все принадлежащие ему дескрипторы, включая мьютекс, что служит сигналом для дочерних процессов завершить свою работу.</a:t>
            </a:r>
          </a:p>
        </p:txBody>
      </p:sp>
      <mc:AlternateContent xmlns:mc="http://schemas.openxmlformats.org/markup-compatibility/2006" xmlns:p14="http://schemas.microsoft.com/office/powerpoint/2010/main">
        <mc:Choice Requires="p14">
          <p:contentPart p14:bwMode="auto" r:id="rId2">
            <p14:nvContentPartPr>
              <p14:cNvPr id="23" name="Рукописный ввод 22">
                <a:extLst>
                  <a:ext uri="{FF2B5EF4-FFF2-40B4-BE49-F238E27FC236}">
                    <a16:creationId xmlns:a16="http://schemas.microsoft.com/office/drawing/2014/main" id="{E0EE67AD-3B62-5E28-583A-CD3AB51E88FE}"/>
                  </a:ext>
                </a:extLst>
              </p14:cNvPr>
              <p14:cNvContentPartPr/>
              <p14:nvPr/>
            </p14:nvContentPartPr>
            <p14:xfrm>
              <a:off x="6096000" y="2137773"/>
              <a:ext cx="720" cy="4746960"/>
            </p14:xfrm>
          </p:contentPart>
        </mc:Choice>
        <mc:Fallback xmlns="">
          <p:pic>
            <p:nvPicPr>
              <p:cNvPr id="23" name="Рукописный ввод 22">
                <a:extLst>
                  <a:ext uri="{FF2B5EF4-FFF2-40B4-BE49-F238E27FC236}">
                    <a16:creationId xmlns:a16="http://schemas.microsoft.com/office/drawing/2014/main" id="{E0EE67AD-3B62-5E28-583A-CD3AB51E88FE}"/>
                  </a:ext>
                </a:extLst>
              </p:cNvPr>
              <p:cNvPicPr/>
              <p:nvPr/>
            </p:nvPicPr>
            <p:blipFill>
              <a:blip r:embed="rId3"/>
              <a:stretch>
                <a:fillRect/>
              </a:stretch>
            </p:blipFill>
            <p:spPr>
              <a:xfrm>
                <a:off x="6083760" y="2131653"/>
                <a:ext cx="25200" cy="4759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7" name="Рукописный ввод 26">
                <a:extLst>
                  <a:ext uri="{FF2B5EF4-FFF2-40B4-BE49-F238E27FC236}">
                    <a16:creationId xmlns:a16="http://schemas.microsoft.com/office/drawing/2014/main" id="{882E5849-21E2-410D-5F3C-7D0632E8464C}"/>
                  </a:ext>
                </a:extLst>
              </p14:cNvPr>
              <p14:cNvContentPartPr/>
              <p14:nvPr/>
            </p14:nvContentPartPr>
            <p14:xfrm>
              <a:off x="9216623" y="7068589"/>
              <a:ext cx="360" cy="360"/>
            </p14:xfrm>
          </p:contentPart>
        </mc:Choice>
        <mc:Fallback xmlns="">
          <p:pic>
            <p:nvPicPr>
              <p:cNvPr id="27" name="Рукописный ввод 26">
                <a:extLst>
                  <a:ext uri="{FF2B5EF4-FFF2-40B4-BE49-F238E27FC236}">
                    <a16:creationId xmlns:a16="http://schemas.microsoft.com/office/drawing/2014/main" id="{882E5849-21E2-410D-5F3C-7D0632E8464C}"/>
                  </a:ext>
                </a:extLst>
              </p:cNvPr>
              <p:cNvPicPr/>
              <p:nvPr/>
            </p:nvPicPr>
            <p:blipFill>
              <a:blip r:embed="rId5"/>
              <a:stretch>
                <a:fillRect/>
              </a:stretch>
            </p:blipFill>
            <p:spPr>
              <a:xfrm>
                <a:off x="9210503" y="7062469"/>
                <a:ext cx="12600" cy="12600"/>
              </a:xfrm>
              <a:prstGeom prst="rect">
                <a:avLst/>
              </a:prstGeom>
            </p:spPr>
          </p:pic>
        </mc:Fallback>
      </mc:AlternateContent>
    </p:spTree>
    <p:extLst>
      <p:ext uri="{BB962C8B-B14F-4D97-AF65-F5344CB8AC3E}">
        <p14:creationId xmlns:p14="http://schemas.microsoft.com/office/powerpoint/2010/main" val="384487180"/>
      </p:ext>
    </p:extLst>
  </p:cSld>
  <p:clrMapOvr>
    <a:masterClrMapping/>
  </p:clrMapOvr>
  <mc:AlternateContent xmlns:mc="http://schemas.openxmlformats.org/markup-compatibility/2006" xmlns:p14="http://schemas.microsoft.com/office/powerpoint/2010/main">
    <mc:Choice Requires="p14">
      <p:transition spd="slow" p14:dur="2000" advTm="2333"/>
    </mc:Choice>
    <mc:Fallback xmlns="">
      <p:transition spd="slow" advTm="233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0DAEEC-409C-EAE9-D9FA-3F875421B378}"/>
              </a:ext>
            </a:extLst>
          </p:cNvPr>
          <p:cNvSpPr>
            <a:spLocks noGrp="1"/>
          </p:cNvSpPr>
          <p:nvPr>
            <p:ph type="title"/>
          </p:nvPr>
        </p:nvSpPr>
        <p:spPr/>
        <p:txBody>
          <a:bodyPr/>
          <a:lstStyle/>
          <a:p>
            <a:r>
              <a:rPr lang="ru-RU" dirty="0"/>
              <a:t>Что мы изучили нового в ходе проекта</a:t>
            </a:r>
          </a:p>
        </p:txBody>
      </p:sp>
      <p:sp>
        <p:nvSpPr>
          <p:cNvPr id="4" name="Объект 3">
            <a:extLst>
              <a:ext uri="{FF2B5EF4-FFF2-40B4-BE49-F238E27FC236}">
                <a16:creationId xmlns:a16="http://schemas.microsoft.com/office/drawing/2014/main" id="{D8AA7C49-91EF-FF4E-5B9D-ECCAE63B7C52}"/>
              </a:ext>
            </a:extLst>
          </p:cNvPr>
          <p:cNvSpPr>
            <a:spLocks noGrp="1"/>
          </p:cNvSpPr>
          <p:nvPr>
            <p:ph sz="half" idx="2"/>
          </p:nvPr>
        </p:nvSpPr>
        <p:spPr>
          <a:xfrm>
            <a:off x="1257300" y="2069432"/>
            <a:ext cx="10020300" cy="3836068"/>
          </a:xfrm>
        </p:spPr>
        <p:txBody>
          <a:bodyPr>
            <a:normAutofit/>
          </a:bodyPr>
          <a:lstStyle/>
          <a:p>
            <a:pPr marL="0" indent="0">
              <a:buNone/>
            </a:pPr>
            <a:r>
              <a:rPr lang="ru-RU" b="1" dirty="0"/>
              <a:t>RECT</a:t>
            </a:r>
            <a:r>
              <a:rPr lang="ru-RU" dirty="0"/>
              <a:t> - структура, которую мы использовали для получения координат окон:</a:t>
            </a:r>
          </a:p>
          <a:p>
            <a:r>
              <a:rPr lang="ru-RU" dirty="0"/>
              <a:t>Хранила информацию о положении окна (</a:t>
            </a:r>
            <a:r>
              <a:rPr lang="ru-RU" dirty="0" err="1"/>
              <a:t>left</a:t>
            </a:r>
            <a:r>
              <a:rPr lang="ru-RU" dirty="0"/>
              <a:t>, </a:t>
            </a:r>
            <a:r>
              <a:rPr lang="ru-RU" dirty="0" err="1"/>
              <a:t>top</a:t>
            </a:r>
            <a:r>
              <a:rPr lang="ru-RU" dirty="0"/>
              <a:t>, </a:t>
            </a:r>
            <a:r>
              <a:rPr lang="ru-RU" dirty="0" err="1"/>
              <a:t>right</a:t>
            </a:r>
            <a:r>
              <a:rPr lang="ru-RU" dirty="0"/>
              <a:t>, </a:t>
            </a:r>
            <a:r>
              <a:rPr lang="ru-RU" dirty="0" err="1"/>
              <a:t>bottom</a:t>
            </a:r>
            <a:r>
              <a:rPr lang="ru-RU" dirty="0"/>
              <a:t>)</a:t>
            </a:r>
          </a:p>
          <a:p>
            <a:r>
              <a:rPr lang="ru-RU" dirty="0"/>
              <a:t>Использовалась с функцией </a:t>
            </a:r>
            <a:r>
              <a:rPr lang="ru-RU" dirty="0" err="1"/>
              <a:t>GetWindowRect</a:t>
            </a:r>
            <a:r>
              <a:rPr lang="ru-RU" dirty="0"/>
              <a:t>() для получения текущих координат стаканов и мяча</a:t>
            </a:r>
          </a:p>
          <a:p>
            <a:pPr marL="0" indent="0">
              <a:buNone/>
            </a:pPr>
            <a:r>
              <a:rPr lang="ru-RU" b="1" dirty="0" err="1"/>
              <a:t>SetWindow</a:t>
            </a:r>
            <a:r>
              <a:rPr lang="en-US" b="1" dirty="0">
                <a:latin typeface="Corbel" panose="020B0503020204020204" pitchFamily="34" charset="0"/>
              </a:rPr>
              <a:t>Pos</a:t>
            </a:r>
            <a:r>
              <a:rPr lang="ru-RU" dirty="0">
                <a:latin typeface="Corbel" panose="020B0503020204020204" pitchFamily="34" charset="0"/>
              </a:rPr>
              <a:t> </a:t>
            </a:r>
            <a:r>
              <a:rPr lang="ru-RU" dirty="0"/>
              <a:t>- функция для управления окнами:</a:t>
            </a:r>
          </a:p>
          <a:p>
            <a:r>
              <a:rPr lang="ru-RU" dirty="0"/>
              <a:t>Перемещали окна стаканов и мяча по экрану</a:t>
            </a:r>
          </a:p>
          <a:p>
            <a:r>
              <a:rPr lang="ru-RU" dirty="0"/>
              <a:t>Меняли их размер и порядок отображения (Z-</a:t>
            </a:r>
            <a:r>
              <a:rPr lang="ru-RU" dirty="0" err="1"/>
              <a:t>order</a:t>
            </a:r>
            <a:r>
              <a:rPr lang="ru-RU" dirty="0"/>
              <a:t>)</a:t>
            </a:r>
          </a:p>
          <a:p>
            <a:r>
              <a:rPr lang="ru-RU" dirty="0"/>
              <a:t>Использовали флаги: SWP_SHOWWINDOW, SWP_NOMOVE, SWP_NOSIZE, HWND_TOP, HWND_BOTTOM,</a:t>
            </a:r>
            <a:r>
              <a:rPr lang="en-US" dirty="0"/>
              <a:t> </a:t>
            </a:r>
            <a:r>
              <a:rPr lang="en-US" dirty="0">
                <a:latin typeface="Corbel" panose="020B0503020204020204" pitchFamily="34" charset="0"/>
              </a:rPr>
              <a:t>SWP_NOACTIVATE</a:t>
            </a:r>
            <a:endParaRPr lang="ru-RU" dirty="0">
              <a:latin typeface="Corbel" panose="020B0503020204020204" pitchFamily="34" charset="0"/>
            </a:endParaRPr>
          </a:p>
          <a:p>
            <a:endParaRPr lang="ru-RU" dirty="0"/>
          </a:p>
        </p:txBody>
      </p:sp>
    </p:spTree>
    <p:extLst>
      <p:ext uri="{BB962C8B-B14F-4D97-AF65-F5344CB8AC3E}">
        <p14:creationId xmlns:p14="http://schemas.microsoft.com/office/powerpoint/2010/main" val="2363205885"/>
      </p:ext>
    </p:extLst>
  </p:cSld>
  <p:clrMapOvr>
    <a:masterClrMapping/>
  </p:clrMapOvr>
  <mc:AlternateContent xmlns:mc="http://schemas.openxmlformats.org/markup-compatibility/2006">
    <mc:Choice xmlns:p14="http://schemas.microsoft.com/office/powerpoint/2010/main" Requires="p14">
      <p:transition spd="slow" p14:dur="2000" advTm="3013"/>
    </mc:Choice>
    <mc:Fallback>
      <p:transition spd="slow" advTm="3013"/>
    </mc:Fallback>
  </mc:AlternateContent>
</p:sld>
</file>

<file path=ppt/theme/theme1.xml><?xml version="1.0" encoding="utf-8"?>
<a:theme xmlns:a="http://schemas.openxmlformats.org/drawingml/2006/main" name="Эмблема">
  <a:themeElements>
    <a:clrScheme name="Бумажная">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Эмблема">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Эмблема">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TM10001106[[fn=Эмблема]]</Template>
  <TotalTime>185</TotalTime>
  <Words>1164</Words>
  <Application>Microsoft Office PowerPoint</Application>
  <PresentationFormat>Широкоэкранный</PresentationFormat>
  <Paragraphs>86</Paragraphs>
  <Slides>10</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10</vt:i4>
      </vt:variant>
    </vt:vector>
  </HeadingPairs>
  <TitlesOfParts>
    <vt:vector size="17" baseType="lpstr">
      <vt:lpstr>Arial</vt:lpstr>
      <vt:lpstr>Corbel</vt:lpstr>
      <vt:lpstr>Corbel (Основной текст)</vt:lpstr>
      <vt:lpstr>Gill Sans MT</vt:lpstr>
      <vt:lpstr>Impact</vt:lpstr>
      <vt:lpstr>Impact (Заголовки)</vt:lpstr>
      <vt:lpstr>Эмблема</vt:lpstr>
      <vt:lpstr>Наперстки</vt:lpstr>
      <vt:lpstr>Суть игры</vt:lpstr>
      <vt:lpstr>Реализация</vt:lpstr>
      <vt:lpstr>Методы</vt:lpstr>
      <vt:lpstr>Использованные знания из курса Системного программирования</vt:lpstr>
      <vt:lpstr>Процессы в проекте</vt:lpstr>
      <vt:lpstr>Какие команды мы использовали для работы с процессами</vt:lpstr>
      <vt:lpstr>Какие команды мы использовали для работы с событиями</vt:lpstr>
      <vt:lpstr>Какие команды мы использовали для работы с Мьютексами</vt:lpstr>
      <vt:lpstr>Что мы изучили нового в ходе проекта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Наперстки</dc:title>
  <dc:creator>дмитрий голованов</dc:creator>
  <cp:lastModifiedBy>Werd 51</cp:lastModifiedBy>
  <cp:revision>8</cp:revision>
  <dcterms:created xsi:type="dcterms:W3CDTF">2026-03-03T10:15:45Z</dcterms:created>
  <dcterms:modified xsi:type="dcterms:W3CDTF">2026-03-13T19:19:31Z</dcterms:modified>
</cp:coreProperties>
</file>